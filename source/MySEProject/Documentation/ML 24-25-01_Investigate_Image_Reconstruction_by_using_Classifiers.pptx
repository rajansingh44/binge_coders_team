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 id="2147483764" r:id="rId2"/>
  </p:sldMasterIdLst>
  <p:notesMasterIdLst>
    <p:notesMasterId r:id="rId23"/>
  </p:notesMasterIdLst>
  <p:handoutMasterIdLst>
    <p:handoutMasterId r:id="rId24"/>
  </p:handoutMasterIdLst>
  <p:sldIdLst>
    <p:sldId id="256" r:id="rId3"/>
    <p:sldId id="258" r:id="rId4"/>
    <p:sldId id="257" r:id="rId5"/>
    <p:sldId id="279" r:id="rId6"/>
    <p:sldId id="261" r:id="rId7"/>
    <p:sldId id="278" r:id="rId8"/>
    <p:sldId id="283" r:id="rId9"/>
    <p:sldId id="273" r:id="rId10"/>
    <p:sldId id="259" r:id="rId11"/>
    <p:sldId id="272" r:id="rId12"/>
    <p:sldId id="275" r:id="rId13"/>
    <p:sldId id="271" r:id="rId14"/>
    <p:sldId id="270" r:id="rId15"/>
    <p:sldId id="274" r:id="rId16"/>
    <p:sldId id="280" r:id="rId17"/>
    <p:sldId id="276" r:id="rId18"/>
    <p:sldId id="277" r:id="rId19"/>
    <p:sldId id="282" r:id="rId20"/>
    <p:sldId id="281" r:id="rId21"/>
    <p:sldId id="26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70F988DB-CB98-4F0A-B81C-6F538464AF22}">
          <p14:sldIdLst>
            <p14:sldId id="256"/>
            <p14:sldId id="258"/>
            <p14:sldId id="257"/>
            <p14:sldId id="279"/>
            <p14:sldId id="261"/>
            <p14:sldId id="278"/>
            <p14:sldId id="283"/>
            <p14:sldId id="273"/>
            <p14:sldId id="259"/>
            <p14:sldId id="272"/>
            <p14:sldId id="275"/>
            <p14:sldId id="271"/>
            <p14:sldId id="270"/>
            <p14:sldId id="274"/>
            <p14:sldId id="280"/>
            <p14:sldId id="276"/>
            <p14:sldId id="277"/>
            <p14:sldId id="282"/>
            <p14:sldId id="281"/>
            <p14:sldId id="268"/>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50970EF-7596-3A64-6A11-F7D25EED3CE2}" name="rajan singh" initials="rs" userId="887a0557c199403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C49E0B-7F73-47C7-ADDE-00BC80CAB926}"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1662DA3C-0370-4D38-9807-68448510E2CA}">
      <dgm:prSet/>
      <dgm:spPr/>
      <dgm:t>
        <a:bodyPr/>
        <a:lstStyle/>
        <a:p>
          <a:r>
            <a:rPr lang="en-US"/>
            <a:t>Image Binarization</a:t>
          </a:r>
          <a:endParaRPr lang="en-US" dirty="0"/>
        </a:p>
      </dgm:t>
    </dgm:pt>
    <dgm:pt modelId="{48AD7076-2A6E-4DB1-B034-5E854C7664C8}" type="parTrans" cxnId="{D756378C-2EFE-496F-9CEE-3DDDD1004A81}">
      <dgm:prSet/>
      <dgm:spPr/>
      <dgm:t>
        <a:bodyPr/>
        <a:lstStyle/>
        <a:p>
          <a:endParaRPr lang="en-US"/>
        </a:p>
      </dgm:t>
    </dgm:pt>
    <dgm:pt modelId="{E8558A51-CE97-413A-A5A0-D0571E06CB95}" type="sibTrans" cxnId="{D756378C-2EFE-496F-9CEE-3DDDD1004A81}">
      <dgm:prSet/>
      <dgm:spPr/>
      <dgm:t>
        <a:bodyPr/>
        <a:lstStyle/>
        <a:p>
          <a:endParaRPr lang="en-US"/>
        </a:p>
      </dgm:t>
    </dgm:pt>
    <dgm:pt modelId="{9D20DAFF-879D-4C90-AB41-775AFE411B4C}">
      <dgm:prSet/>
      <dgm:spPr/>
      <dgm:t>
        <a:bodyPr/>
        <a:lstStyle/>
        <a:p>
          <a:r>
            <a:rPr lang="en-US" dirty="0"/>
            <a:t>KNN and HTM Classification</a:t>
          </a:r>
        </a:p>
      </dgm:t>
    </dgm:pt>
    <dgm:pt modelId="{21147AB2-FADD-40ED-82F9-57EB271B33ED}" type="sibTrans" cxnId="{E7DD06F1-72AB-472E-9F1D-BD2A05F268EE}">
      <dgm:prSet/>
      <dgm:spPr/>
      <dgm:t>
        <a:bodyPr/>
        <a:lstStyle/>
        <a:p>
          <a:endParaRPr lang="en-US"/>
        </a:p>
      </dgm:t>
    </dgm:pt>
    <dgm:pt modelId="{CD911127-0D1A-4606-88F1-3872CA7F5456}" type="parTrans" cxnId="{E7DD06F1-72AB-472E-9F1D-BD2A05F268EE}">
      <dgm:prSet/>
      <dgm:spPr/>
      <dgm:t>
        <a:bodyPr/>
        <a:lstStyle/>
        <a:p>
          <a:endParaRPr lang="en-US"/>
        </a:p>
      </dgm:t>
    </dgm:pt>
    <dgm:pt modelId="{67B91651-1C38-4677-8C29-23D3890F2162}">
      <dgm:prSet/>
      <dgm:spPr/>
      <dgm:t>
        <a:bodyPr/>
        <a:lstStyle/>
        <a:p>
          <a:r>
            <a:rPr lang="en-US"/>
            <a:t>Spatial Pooler</a:t>
          </a:r>
          <a:endParaRPr lang="en-US" dirty="0"/>
        </a:p>
      </dgm:t>
    </dgm:pt>
    <dgm:pt modelId="{B7A72A68-104E-42E0-836B-8FB4E912D999}" type="sibTrans" cxnId="{E5D14863-45CF-47AC-B58B-8001C0BE2D86}">
      <dgm:prSet/>
      <dgm:spPr/>
      <dgm:t>
        <a:bodyPr/>
        <a:lstStyle/>
        <a:p>
          <a:endParaRPr lang="en-US"/>
        </a:p>
      </dgm:t>
    </dgm:pt>
    <dgm:pt modelId="{1E040ADD-2B00-4C90-B7FE-2D5986AD7931}" type="parTrans" cxnId="{E5D14863-45CF-47AC-B58B-8001C0BE2D86}">
      <dgm:prSet/>
      <dgm:spPr/>
      <dgm:t>
        <a:bodyPr/>
        <a:lstStyle/>
        <a:p>
          <a:endParaRPr lang="en-US"/>
        </a:p>
      </dgm:t>
    </dgm:pt>
    <dgm:pt modelId="{AB22489A-E590-4803-8CD1-2C0A932493DE}">
      <dgm:prSet/>
      <dgm:spPr/>
      <dgm:t>
        <a:bodyPr/>
        <a:lstStyle/>
        <a:p>
          <a:r>
            <a:rPr lang="en-US" dirty="0"/>
            <a:t>Reconstruction</a:t>
          </a:r>
        </a:p>
      </dgm:t>
    </dgm:pt>
    <dgm:pt modelId="{96427849-CF7E-403F-913B-FD6E8FA0883D}" type="parTrans" cxnId="{E9A165CB-E095-4B62-889E-5B16FA12328E}">
      <dgm:prSet/>
      <dgm:spPr/>
      <dgm:t>
        <a:bodyPr/>
        <a:lstStyle/>
        <a:p>
          <a:endParaRPr lang="en-IN"/>
        </a:p>
      </dgm:t>
    </dgm:pt>
    <dgm:pt modelId="{1E0E3940-9C0B-438C-B441-7181456DCD30}" type="sibTrans" cxnId="{E9A165CB-E095-4B62-889E-5B16FA12328E}">
      <dgm:prSet/>
      <dgm:spPr/>
      <dgm:t>
        <a:bodyPr/>
        <a:lstStyle/>
        <a:p>
          <a:endParaRPr lang="en-IN"/>
        </a:p>
      </dgm:t>
    </dgm:pt>
    <dgm:pt modelId="{A78072FD-7709-45BF-BEFC-DDED7970D1FB}">
      <dgm:prSet/>
      <dgm:spPr/>
      <dgm:t>
        <a:bodyPr/>
        <a:lstStyle/>
        <a:p>
          <a:endParaRPr lang="en-US" dirty="0"/>
        </a:p>
      </dgm:t>
    </dgm:pt>
    <dgm:pt modelId="{56ABF925-4543-44F2-ACDE-BE7AF5C941F1}" type="parTrans" cxnId="{59CF7E43-2215-4C55-ADFA-F40537A67525}">
      <dgm:prSet/>
      <dgm:spPr/>
      <dgm:t>
        <a:bodyPr/>
        <a:lstStyle/>
        <a:p>
          <a:endParaRPr lang="en-IN"/>
        </a:p>
      </dgm:t>
    </dgm:pt>
    <dgm:pt modelId="{76C79A1B-27D0-4BFE-A6EF-47A207056349}" type="sibTrans" cxnId="{59CF7E43-2215-4C55-ADFA-F40537A67525}">
      <dgm:prSet/>
      <dgm:spPr/>
      <dgm:t>
        <a:bodyPr/>
        <a:lstStyle/>
        <a:p>
          <a:endParaRPr lang="en-IN"/>
        </a:p>
      </dgm:t>
    </dgm:pt>
    <dgm:pt modelId="{D09238F6-4DF2-41B5-B8B9-C94A310CA748}">
      <dgm:prSet/>
      <dgm:spPr/>
      <dgm:t>
        <a:bodyPr/>
        <a:lstStyle/>
        <a:p>
          <a:r>
            <a:rPr lang="en-US" dirty="0"/>
            <a:t>Similarity Calculation</a:t>
          </a:r>
        </a:p>
      </dgm:t>
    </dgm:pt>
    <dgm:pt modelId="{4D078A3D-08B3-40E4-9364-327E8B0924CF}" type="parTrans" cxnId="{A609B1AD-E418-4D98-BFB6-0241A54263A4}">
      <dgm:prSet/>
      <dgm:spPr/>
      <dgm:t>
        <a:bodyPr/>
        <a:lstStyle/>
        <a:p>
          <a:endParaRPr lang="en-IN"/>
        </a:p>
      </dgm:t>
    </dgm:pt>
    <dgm:pt modelId="{A944E116-2A11-476B-BD5D-D4830B45F902}" type="sibTrans" cxnId="{A609B1AD-E418-4D98-BFB6-0241A54263A4}">
      <dgm:prSet/>
      <dgm:spPr/>
      <dgm:t>
        <a:bodyPr/>
        <a:lstStyle/>
        <a:p>
          <a:endParaRPr lang="en-IN"/>
        </a:p>
      </dgm:t>
    </dgm:pt>
    <dgm:pt modelId="{55443F44-7679-4449-B60D-38EA7FF32DD7}">
      <dgm:prSet/>
      <dgm:spPr/>
      <dgm:t>
        <a:bodyPr/>
        <a:lstStyle/>
        <a:p>
          <a:endParaRPr lang="en-IN"/>
        </a:p>
      </dgm:t>
    </dgm:pt>
    <dgm:pt modelId="{39D8713C-A025-4178-B273-515BB37E8731}" type="parTrans" cxnId="{D4A3B71E-61D2-47D5-B67C-F58096A6A539}">
      <dgm:prSet/>
      <dgm:spPr/>
      <dgm:t>
        <a:bodyPr/>
        <a:lstStyle/>
        <a:p>
          <a:endParaRPr lang="en-IN"/>
        </a:p>
      </dgm:t>
    </dgm:pt>
    <dgm:pt modelId="{B3AC3072-8AAA-4006-991C-D613A833EB13}" type="sibTrans" cxnId="{D4A3B71E-61D2-47D5-B67C-F58096A6A539}">
      <dgm:prSet/>
      <dgm:spPr/>
      <dgm:t>
        <a:bodyPr/>
        <a:lstStyle/>
        <a:p>
          <a:endParaRPr lang="en-IN"/>
        </a:p>
      </dgm:t>
    </dgm:pt>
    <dgm:pt modelId="{C4D2713C-1FE8-4436-9D2A-9F1802FEA2E8}" type="pres">
      <dgm:prSet presAssocID="{E3C49E0B-7F73-47C7-ADDE-00BC80CAB926}" presName="outerComposite" presStyleCnt="0">
        <dgm:presLayoutVars>
          <dgm:chMax val="5"/>
          <dgm:dir/>
          <dgm:resizeHandles val="exact"/>
        </dgm:presLayoutVars>
      </dgm:prSet>
      <dgm:spPr/>
    </dgm:pt>
    <dgm:pt modelId="{57CBFD75-93E3-4FEF-8359-06919B0F471A}" type="pres">
      <dgm:prSet presAssocID="{E3C49E0B-7F73-47C7-ADDE-00BC80CAB926}" presName="dummyMaxCanvas" presStyleCnt="0">
        <dgm:presLayoutVars/>
      </dgm:prSet>
      <dgm:spPr/>
    </dgm:pt>
    <dgm:pt modelId="{277900D5-CF4C-4740-B2B1-4D6E70AFD8A9}" type="pres">
      <dgm:prSet presAssocID="{E3C49E0B-7F73-47C7-ADDE-00BC80CAB926}" presName="FiveNodes_1" presStyleLbl="node1" presStyleIdx="0" presStyleCnt="5">
        <dgm:presLayoutVars>
          <dgm:bulletEnabled val="1"/>
        </dgm:presLayoutVars>
      </dgm:prSet>
      <dgm:spPr/>
    </dgm:pt>
    <dgm:pt modelId="{92CB2872-87C9-4174-9D88-81EED7730445}" type="pres">
      <dgm:prSet presAssocID="{E3C49E0B-7F73-47C7-ADDE-00BC80CAB926}" presName="FiveNodes_2" presStyleLbl="node1" presStyleIdx="1" presStyleCnt="5">
        <dgm:presLayoutVars>
          <dgm:bulletEnabled val="1"/>
        </dgm:presLayoutVars>
      </dgm:prSet>
      <dgm:spPr/>
    </dgm:pt>
    <dgm:pt modelId="{D73EEC70-451D-47B7-82E3-BA47F2097BB9}" type="pres">
      <dgm:prSet presAssocID="{E3C49E0B-7F73-47C7-ADDE-00BC80CAB926}" presName="FiveNodes_3" presStyleLbl="node1" presStyleIdx="2" presStyleCnt="5">
        <dgm:presLayoutVars>
          <dgm:bulletEnabled val="1"/>
        </dgm:presLayoutVars>
      </dgm:prSet>
      <dgm:spPr/>
    </dgm:pt>
    <dgm:pt modelId="{6912B9D4-BA88-4888-B362-A8C347AFC572}" type="pres">
      <dgm:prSet presAssocID="{E3C49E0B-7F73-47C7-ADDE-00BC80CAB926}" presName="FiveNodes_4" presStyleLbl="node1" presStyleIdx="3" presStyleCnt="5">
        <dgm:presLayoutVars>
          <dgm:bulletEnabled val="1"/>
        </dgm:presLayoutVars>
      </dgm:prSet>
      <dgm:spPr/>
    </dgm:pt>
    <dgm:pt modelId="{48331F1E-3CFB-4694-8981-0E8377976106}" type="pres">
      <dgm:prSet presAssocID="{E3C49E0B-7F73-47C7-ADDE-00BC80CAB926}" presName="FiveNodes_5" presStyleLbl="node1" presStyleIdx="4" presStyleCnt="5">
        <dgm:presLayoutVars>
          <dgm:bulletEnabled val="1"/>
        </dgm:presLayoutVars>
      </dgm:prSet>
      <dgm:spPr/>
    </dgm:pt>
    <dgm:pt modelId="{294C6611-3C39-42B1-B224-F22934F43614}" type="pres">
      <dgm:prSet presAssocID="{E3C49E0B-7F73-47C7-ADDE-00BC80CAB926}" presName="FiveConn_1-2" presStyleLbl="fgAccFollowNode1" presStyleIdx="0" presStyleCnt="4">
        <dgm:presLayoutVars>
          <dgm:bulletEnabled val="1"/>
        </dgm:presLayoutVars>
      </dgm:prSet>
      <dgm:spPr/>
    </dgm:pt>
    <dgm:pt modelId="{09F7A8E1-047F-4B9F-AA4A-E96485952A2D}" type="pres">
      <dgm:prSet presAssocID="{E3C49E0B-7F73-47C7-ADDE-00BC80CAB926}" presName="FiveConn_2-3" presStyleLbl="fgAccFollowNode1" presStyleIdx="1" presStyleCnt="4">
        <dgm:presLayoutVars>
          <dgm:bulletEnabled val="1"/>
        </dgm:presLayoutVars>
      </dgm:prSet>
      <dgm:spPr/>
    </dgm:pt>
    <dgm:pt modelId="{77C524A4-1122-422B-A9A6-B4AD8C5CBC9C}" type="pres">
      <dgm:prSet presAssocID="{E3C49E0B-7F73-47C7-ADDE-00BC80CAB926}" presName="FiveConn_3-4" presStyleLbl="fgAccFollowNode1" presStyleIdx="2" presStyleCnt="4">
        <dgm:presLayoutVars>
          <dgm:bulletEnabled val="1"/>
        </dgm:presLayoutVars>
      </dgm:prSet>
      <dgm:spPr/>
    </dgm:pt>
    <dgm:pt modelId="{98781923-123A-4F23-A49C-424ABE0A431D}" type="pres">
      <dgm:prSet presAssocID="{E3C49E0B-7F73-47C7-ADDE-00BC80CAB926}" presName="FiveConn_4-5" presStyleLbl="fgAccFollowNode1" presStyleIdx="3" presStyleCnt="4">
        <dgm:presLayoutVars>
          <dgm:bulletEnabled val="1"/>
        </dgm:presLayoutVars>
      </dgm:prSet>
      <dgm:spPr/>
    </dgm:pt>
    <dgm:pt modelId="{888D1C31-EEB5-47CC-B122-41D31E099808}" type="pres">
      <dgm:prSet presAssocID="{E3C49E0B-7F73-47C7-ADDE-00BC80CAB926}" presName="FiveNodes_1_text" presStyleLbl="node1" presStyleIdx="4" presStyleCnt="5">
        <dgm:presLayoutVars>
          <dgm:bulletEnabled val="1"/>
        </dgm:presLayoutVars>
      </dgm:prSet>
      <dgm:spPr/>
    </dgm:pt>
    <dgm:pt modelId="{6657DA87-8E85-436D-8B99-8C85A173E7D7}" type="pres">
      <dgm:prSet presAssocID="{E3C49E0B-7F73-47C7-ADDE-00BC80CAB926}" presName="FiveNodes_2_text" presStyleLbl="node1" presStyleIdx="4" presStyleCnt="5">
        <dgm:presLayoutVars>
          <dgm:bulletEnabled val="1"/>
        </dgm:presLayoutVars>
      </dgm:prSet>
      <dgm:spPr/>
    </dgm:pt>
    <dgm:pt modelId="{062E01F0-2E75-4486-9364-8337658D1B57}" type="pres">
      <dgm:prSet presAssocID="{E3C49E0B-7F73-47C7-ADDE-00BC80CAB926}" presName="FiveNodes_3_text" presStyleLbl="node1" presStyleIdx="4" presStyleCnt="5">
        <dgm:presLayoutVars>
          <dgm:bulletEnabled val="1"/>
        </dgm:presLayoutVars>
      </dgm:prSet>
      <dgm:spPr/>
    </dgm:pt>
    <dgm:pt modelId="{A1BC3CD9-1F64-4735-85BB-1012EE32530C}" type="pres">
      <dgm:prSet presAssocID="{E3C49E0B-7F73-47C7-ADDE-00BC80CAB926}" presName="FiveNodes_4_text" presStyleLbl="node1" presStyleIdx="4" presStyleCnt="5">
        <dgm:presLayoutVars>
          <dgm:bulletEnabled val="1"/>
        </dgm:presLayoutVars>
      </dgm:prSet>
      <dgm:spPr/>
    </dgm:pt>
    <dgm:pt modelId="{845A130A-26E4-43ED-A164-D8F1CCDA17A8}" type="pres">
      <dgm:prSet presAssocID="{E3C49E0B-7F73-47C7-ADDE-00BC80CAB926}" presName="FiveNodes_5_text" presStyleLbl="node1" presStyleIdx="4" presStyleCnt="5">
        <dgm:presLayoutVars>
          <dgm:bulletEnabled val="1"/>
        </dgm:presLayoutVars>
      </dgm:prSet>
      <dgm:spPr/>
    </dgm:pt>
  </dgm:ptLst>
  <dgm:cxnLst>
    <dgm:cxn modelId="{E77F3408-3F59-46EB-AE22-E8ABB5F4BD35}" type="presOf" srcId="{D09238F6-4DF2-41B5-B8B9-C94A310CA748}" destId="{48331F1E-3CFB-4694-8981-0E8377976106}" srcOrd="0" destOrd="0" presId="urn:microsoft.com/office/officeart/2005/8/layout/vProcess5"/>
    <dgm:cxn modelId="{69ECB618-792E-497B-B063-7FA445F6A6CD}" type="presOf" srcId="{21147AB2-FADD-40ED-82F9-57EB271B33ED}" destId="{77C524A4-1122-422B-A9A6-B4AD8C5CBC9C}" srcOrd="0" destOrd="0" presId="urn:microsoft.com/office/officeart/2005/8/layout/vProcess5"/>
    <dgm:cxn modelId="{D4A3B71E-61D2-47D5-B67C-F58096A6A539}" srcId="{E3C49E0B-7F73-47C7-ADDE-00BC80CAB926}" destId="{55443F44-7679-4449-B60D-38EA7FF32DD7}" srcOrd="5" destOrd="0" parTransId="{39D8713C-A025-4178-B273-515BB37E8731}" sibTransId="{B3AC3072-8AAA-4006-991C-D613A833EB13}"/>
    <dgm:cxn modelId="{2CCFDA20-80D1-47E4-94E9-ECD11C7F97AC}" type="presOf" srcId="{9D20DAFF-879D-4C90-AB41-775AFE411B4C}" destId="{D73EEC70-451D-47B7-82E3-BA47F2097BB9}" srcOrd="0" destOrd="0" presId="urn:microsoft.com/office/officeart/2005/8/layout/vProcess5"/>
    <dgm:cxn modelId="{A612915D-C884-40E2-8B05-3D67D4987F61}" type="presOf" srcId="{E8558A51-CE97-413A-A5A0-D0571E06CB95}" destId="{294C6611-3C39-42B1-B224-F22934F43614}" srcOrd="0" destOrd="0" presId="urn:microsoft.com/office/officeart/2005/8/layout/vProcess5"/>
    <dgm:cxn modelId="{33F9EC5E-7F58-41F0-8D78-0BF3AE925679}" type="presOf" srcId="{B7A72A68-104E-42E0-836B-8FB4E912D999}" destId="{09F7A8E1-047F-4B9F-AA4A-E96485952A2D}" srcOrd="0" destOrd="0" presId="urn:microsoft.com/office/officeart/2005/8/layout/vProcess5"/>
    <dgm:cxn modelId="{E5D14863-45CF-47AC-B58B-8001C0BE2D86}" srcId="{E3C49E0B-7F73-47C7-ADDE-00BC80CAB926}" destId="{67B91651-1C38-4677-8C29-23D3890F2162}" srcOrd="1" destOrd="0" parTransId="{1E040ADD-2B00-4C90-B7FE-2D5986AD7931}" sibTransId="{B7A72A68-104E-42E0-836B-8FB4E912D999}"/>
    <dgm:cxn modelId="{59CF7E43-2215-4C55-ADFA-F40537A67525}" srcId="{E3C49E0B-7F73-47C7-ADDE-00BC80CAB926}" destId="{A78072FD-7709-45BF-BEFC-DDED7970D1FB}" srcOrd="6" destOrd="0" parTransId="{56ABF925-4543-44F2-ACDE-BE7AF5C941F1}" sibTransId="{76C79A1B-27D0-4BFE-A6EF-47A207056349}"/>
    <dgm:cxn modelId="{9EB83644-301B-404E-82CC-BD3310B0F34C}" type="presOf" srcId="{9D20DAFF-879D-4C90-AB41-775AFE411B4C}" destId="{062E01F0-2E75-4486-9364-8337658D1B57}" srcOrd="1" destOrd="0" presId="urn:microsoft.com/office/officeart/2005/8/layout/vProcess5"/>
    <dgm:cxn modelId="{D17D2049-5EC8-47E9-AB2F-E2BFFD92E99F}" type="presOf" srcId="{AB22489A-E590-4803-8CD1-2C0A932493DE}" destId="{A1BC3CD9-1F64-4735-85BB-1012EE32530C}" srcOrd="1" destOrd="0" presId="urn:microsoft.com/office/officeart/2005/8/layout/vProcess5"/>
    <dgm:cxn modelId="{C32CAB69-8064-45A7-A53A-861C150D1F64}" type="presOf" srcId="{1662DA3C-0370-4D38-9807-68448510E2CA}" destId="{277900D5-CF4C-4740-B2B1-4D6E70AFD8A9}" srcOrd="0" destOrd="0" presId="urn:microsoft.com/office/officeart/2005/8/layout/vProcess5"/>
    <dgm:cxn modelId="{0131E44E-6A5E-433A-B49E-9EB5B56759F0}" type="presOf" srcId="{67B91651-1C38-4677-8C29-23D3890F2162}" destId="{6657DA87-8E85-436D-8B99-8C85A173E7D7}" srcOrd="1" destOrd="0" presId="urn:microsoft.com/office/officeart/2005/8/layout/vProcess5"/>
    <dgm:cxn modelId="{D756378C-2EFE-496F-9CEE-3DDDD1004A81}" srcId="{E3C49E0B-7F73-47C7-ADDE-00BC80CAB926}" destId="{1662DA3C-0370-4D38-9807-68448510E2CA}" srcOrd="0" destOrd="0" parTransId="{48AD7076-2A6E-4DB1-B034-5E854C7664C8}" sibTransId="{E8558A51-CE97-413A-A5A0-D0571E06CB95}"/>
    <dgm:cxn modelId="{D708ED91-781C-4656-BCA1-52A87C868744}" type="presOf" srcId="{67B91651-1C38-4677-8C29-23D3890F2162}" destId="{92CB2872-87C9-4174-9D88-81EED7730445}" srcOrd="0" destOrd="0" presId="urn:microsoft.com/office/officeart/2005/8/layout/vProcess5"/>
    <dgm:cxn modelId="{A609B1AD-E418-4D98-BFB6-0241A54263A4}" srcId="{E3C49E0B-7F73-47C7-ADDE-00BC80CAB926}" destId="{D09238F6-4DF2-41B5-B8B9-C94A310CA748}" srcOrd="4" destOrd="0" parTransId="{4D078A3D-08B3-40E4-9364-327E8B0924CF}" sibTransId="{A944E116-2A11-476B-BD5D-D4830B45F902}"/>
    <dgm:cxn modelId="{E9A165CB-E095-4B62-889E-5B16FA12328E}" srcId="{E3C49E0B-7F73-47C7-ADDE-00BC80CAB926}" destId="{AB22489A-E590-4803-8CD1-2C0A932493DE}" srcOrd="3" destOrd="0" parTransId="{96427849-CF7E-403F-913B-FD6E8FA0883D}" sibTransId="{1E0E3940-9C0B-438C-B441-7181456DCD30}"/>
    <dgm:cxn modelId="{B461BCD8-80B7-4F1F-9B12-802F99E069EF}" type="presOf" srcId="{D09238F6-4DF2-41B5-B8B9-C94A310CA748}" destId="{845A130A-26E4-43ED-A164-D8F1CCDA17A8}" srcOrd="1" destOrd="0" presId="urn:microsoft.com/office/officeart/2005/8/layout/vProcess5"/>
    <dgm:cxn modelId="{094ECFED-5495-44F6-B437-3387137B685F}" type="presOf" srcId="{1662DA3C-0370-4D38-9807-68448510E2CA}" destId="{888D1C31-EEB5-47CC-B122-41D31E099808}" srcOrd="1" destOrd="0" presId="urn:microsoft.com/office/officeart/2005/8/layout/vProcess5"/>
    <dgm:cxn modelId="{689D50EF-75F3-4C4A-8646-09151152C90A}" type="presOf" srcId="{1E0E3940-9C0B-438C-B441-7181456DCD30}" destId="{98781923-123A-4F23-A49C-424ABE0A431D}" srcOrd="0" destOrd="0" presId="urn:microsoft.com/office/officeart/2005/8/layout/vProcess5"/>
    <dgm:cxn modelId="{E7DD06F1-72AB-472E-9F1D-BD2A05F268EE}" srcId="{E3C49E0B-7F73-47C7-ADDE-00BC80CAB926}" destId="{9D20DAFF-879D-4C90-AB41-775AFE411B4C}" srcOrd="2" destOrd="0" parTransId="{CD911127-0D1A-4606-88F1-3872CA7F5456}" sibTransId="{21147AB2-FADD-40ED-82F9-57EB271B33ED}"/>
    <dgm:cxn modelId="{E86B97F9-BB19-4DDC-828F-205506732509}" type="presOf" srcId="{E3C49E0B-7F73-47C7-ADDE-00BC80CAB926}" destId="{C4D2713C-1FE8-4436-9D2A-9F1802FEA2E8}" srcOrd="0" destOrd="0" presId="urn:microsoft.com/office/officeart/2005/8/layout/vProcess5"/>
    <dgm:cxn modelId="{520C34FB-8ABA-46FF-AB1E-6F771796F674}" type="presOf" srcId="{AB22489A-E590-4803-8CD1-2C0A932493DE}" destId="{6912B9D4-BA88-4888-B362-A8C347AFC572}" srcOrd="0" destOrd="0" presId="urn:microsoft.com/office/officeart/2005/8/layout/vProcess5"/>
    <dgm:cxn modelId="{7B67F2BB-41B5-4C4F-A1A6-27E0BC5FF6E5}" type="presParOf" srcId="{C4D2713C-1FE8-4436-9D2A-9F1802FEA2E8}" destId="{57CBFD75-93E3-4FEF-8359-06919B0F471A}" srcOrd="0" destOrd="0" presId="urn:microsoft.com/office/officeart/2005/8/layout/vProcess5"/>
    <dgm:cxn modelId="{76AEB0D0-E291-4388-8BD6-A57730D872C9}" type="presParOf" srcId="{C4D2713C-1FE8-4436-9D2A-9F1802FEA2E8}" destId="{277900D5-CF4C-4740-B2B1-4D6E70AFD8A9}" srcOrd="1" destOrd="0" presId="urn:microsoft.com/office/officeart/2005/8/layout/vProcess5"/>
    <dgm:cxn modelId="{7DF4FF01-628B-46CF-B2C1-8AF180E7AA57}" type="presParOf" srcId="{C4D2713C-1FE8-4436-9D2A-9F1802FEA2E8}" destId="{92CB2872-87C9-4174-9D88-81EED7730445}" srcOrd="2" destOrd="0" presId="urn:microsoft.com/office/officeart/2005/8/layout/vProcess5"/>
    <dgm:cxn modelId="{612FFE5C-8B6F-44ED-8E5A-2965D304A6AF}" type="presParOf" srcId="{C4D2713C-1FE8-4436-9D2A-9F1802FEA2E8}" destId="{D73EEC70-451D-47B7-82E3-BA47F2097BB9}" srcOrd="3" destOrd="0" presId="urn:microsoft.com/office/officeart/2005/8/layout/vProcess5"/>
    <dgm:cxn modelId="{3B06D8B9-F64A-4085-A639-0CC521A18CD7}" type="presParOf" srcId="{C4D2713C-1FE8-4436-9D2A-9F1802FEA2E8}" destId="{6912B9D4-BA88-4888-B362-A8C347AFC572}" srcOrd="4" destOrd="0" presId="urn:microsoft.com/office/officeart/2005/8/layout/vProcess5"/>
    <dgm:cxn modelId="{1C0928DE-8810-4041-A336-405A5CAC93EF}" type="presParOf" srcId="{C4D2713C-1FE8-4436-9D2A-9F1802FEA2E8}" destId="{48331F1E-3CFB-4694-8981-0E8377976106}" srcOrd="5" destOrd="0" presId="urn:microsoft.com/office/officeart/2005/8/layout/vProcess5"/>
    <dgm:cxn modelId="{042719F8-D8E7-4572-877C-6F30CAF673A3}" type="presParOf" srcId="{C4D2713C-1FE8-4436-9D2A-9F1802FEA2E8}" destId="{294C6611-3C39-42B1-B224-F22934F43614}" srcOrd="6" destOrd="0" presId="urn:microsoft.com/office/officeart/2005/8/layout/vProcess5"/>
    <dgm:cxn modelId="{698B9E8B-8C41-4839-9075-7BE08AD4C558}" type="presParOf" srcId="{C4D2713C-1FE8-4436-9D2A-9F1802FEA2E8}" destId="{09F7A8E1-047F-4B9F-AA4A-E96485952A2D}" srcOrd="7" destOrd="0" presId="urn:microsoft.com/office/officeart/2005/8/layout/vProcess5"/>
    <dgm:cxn modelId="{CB0F70C2-F78D-438E-92C1-E325671DAE78}" type="presParOf" srcId="{C4D2713C-1FE8-4436-9D2A-9F1802FEA2E8}" destId="{77C524A4-1122-422B-A9A6-B4AD8C5CBC9C}" srcOrd="8" destOrd="0" presId="urn:microsoft.com/office/officeart/2005/8/layout/vProcess5"/>
    <dgm:cxn modelId="{E9DEA6CF-0E31-4955-AD43-5B3FB181B113}" type="presParOf" srcId="{C4D2713C-1FE8-4436-9D2A-9F1802FEA2E8}" destId="{98781923-123A-4F23-A49C-424ABE0A431D}" srcOrd="9" destOrd="0" presId="urn:microsoft.com/office/officeart/2005/8/layout/vProcess5"/>
    <dgm:cxn modelId="{609CA3D4-7347-4B1D-9140-6A8BC3AB7F05}" type="presParOf" srcId="{C4D2713C-1FE8-4436-9D2A-9F1802FEA2E8}" destId="{888D1C31-EEB5-47CC-B122-41D31E099808}" srcOrd="10" destOrd="0" presId="urn:microsoft.com/office/officeart/2005/8/layout/vProcess5"/>
    <dgm:cxn modelId="{83F3D602-73AF-4CF3-B4EA-A693B5B5F759}" type="presParOf" srcId="{C4D2713C-1FE8-4436-9D2A-9F1802FEA2E8}" destId="{6657DA87-8E85-436D-8B99-8C85A173E7D7}" srcOrd="11" destOrd="0" presId="urn:microsoft.com/office/officeart/2005/8/layout/vProcess5"/>
    <dgm:cxn modelId="{0F2DB8AD-95FC-424F-95AD-34E51F86667A}" type="presParOf" srcId="{C4D2713C-1FE8-4436-9D2A-9F1802FEA2E8}" destId="{062E01F0-2E75-4486-9364-8337658D1B57}" srcOrd="12" destOrd="0" presId="urn:microsoft.com/office/officeart/2005/8/layout/vProcess5"/>
    <dgm:cxn modelId="{3B273C1C-5C7A-4A1F-B4C5-ED8C7B3B805E}" type="presParOf" srcId="{C4D2713C-1FE8-4436-9D2A-9F1802FEA2E8}" destId="{A1BC3CD9-1F64-4735-85BB-1012EE32530C}" srcOrd="13" destOrd="0" presId="urn:microsoft.com/office/officeart/2005/8/layout/vProcess5"/>
    <dgm:cxn modelId="{EFE3A216-BE6B-42E2-A1FD-B0052F0B8A21}" type="presParOf" srcId="{C4D2713C-1FE8-4436-9D2A-9F1802FEA2E8}" destId="{845A130A-26E4-43ED-A164-D8F1CCDA17A8}"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C84E9A-AF39-45F4-A3C2-540F3F2711B1}" type="doc">
      <dgm:prSet loTypeId="urn:microsoft.com/office/officeart/2009/3/layout/HorizontalOrganizationChart" loCatId="hierarchy" qsTypeId="urn:microsoft.com/office/officeart/2005/8/quickstyle/simple4" qsCatId="simple" csTypeId="urn:microsoft.com/office/officeart/2005/8/colors/accent1_2" csCatId="accent1"/>
      <dgm:spPr/>
      <dgm:t>
        <a:bodyPr/>
        <a:lstStyle/>
        <a:p>
          <a:endParaRPr lang="en-US"/>
        </a:p>
      </dgm:t>
    </dgm:pt>
    <dgm:pt modelId="{C8C926FF-D8C9-4130-A910-9CC619A794C2}">
      <dgm:prSet/>
      <dgm:spPr/>
      <dgm:t>
        <a:bodyPr/>
        <a:lstStyle/>
        <a:p>
          <a:r>
            <a:rPr lang="en-US" b="0" i="0"/>
            <a:t>KNN, a distance-based classifier, retrieves the closest match from the training dataset, aiding direct pattern reconstruction.</a:t>
          </a:r>
          <a:endParaRPr lang="en-US"/>
        </a:p>
      </dgm:t>
    </dgm:pt>
    <dgm:pt modelId="{29387356-EC93-48C1-8298-6D27CBAC19A6}" type="parTrans" cxnId="{B8A8E637-1186-4ED8-B50D-B6035005D368}">
      <dgm:prSet/>
      <dgm:spPr/>
      <dgm:t>
        <a:bodyPr/>
        <a:lstStyle/>
        <a:p>
          <a:endParaRPr lang="en-US"/>
        </a:p>
      </dgm:t>
    </dgm:pt>
    <dgm:pt modelId="{9DDFFDDF-8F84-4446-A2C6-2524B7D702BD}" type="sibTrans" cxnId="{B8A8E637-1186-4ED8-B50D-B6035005D368}">
      <dgm:prSet/>
      <dgm:spPr/>
      <dgm:t>
        <a:bodyPr/>
        <a:lstStyle/>
        <a:p>
          <a:endParaRPr lang="en-US"/>
        </a:p>
      </dgm:t>
    </dgm:pt>
    <dgm:pt modelId="{7385C8BA-0B08-4BD7-A411-66529F65A869}">
      <dgm:prSet/>
      <dgm:spPr/>
      <dgm:t>
        <a:bodyPr/>
        <a:lstStyle/>
        <a:p>
          <a:r>
            <a:rPr lang="en-US" b="0" i="0"/>
            <a:t>HTM, inspired by biological intelligence, learns spatial patterns and continuously adapts over time.</a:t>
          </a:r>
          <a:endParaRPr lang="en-US"/>
        </a:p>
      </dgm:t>
    </dgm:pt>
    <dgm:pt modelId="{CB1EF5AD-C423-47C4-A137-BDBD30F0C6AF}" type="parTrans" cxnId="{4CDEDD42-CA57-4428-B6E7-B922C6E6D9BE}">
      <dgm:prSet/>
      <dgm:spPr/>
      <dgm:t>
        <a:bodyPr/>
        <a:lstStyle/>
        <a:p>
          <a:endParaRPr lang="en-US"/>
        </a:p>
      </dgm:t>
    </dgm:pt>
    <dgm:pt modelId="{789BA291-464A-4C9D-BAF2-9140A4071CB0}" type="sibTrans" cxnId="{4CDEDD42-CA57-4428-B6E7-B922C6E6D9BE}">
      <dgm:prSet/>
      <dgm:spPr/>
      <dgm:t>
        <a:bodyPr/>
        <a:lstStyle/>
        <a:p>
          <a:endParaRPr lang="en-US"/>
        </a:p>
      </dgm:t>
    </dgm:pt>
    <dgm:pt modelId="{AACD610C-9EEF-40E1-9CD9-65ECCEC3A6B8}" type="pres">
      <dgm:prSet presAssocID="{68C84E9A-AF39-45F4-A3C2-540F3F2711B1}" presName="hierChild1" presStyleCnt="0">
        <dgm:presLayoutVars>
          <dgm:orgChart val="1"/>
          <dgm:chPref val="1"/>
          <dgm:dir/>
          <dgm:animOne val="branch"/>
          <dgm:animLvl val="lvl"/>
          <dgm:resizeHandles/>
        </dgm:presLayoutVars>
      </dgm:prSet>
      <dgm:spPr/>
    </dgm:pt>
    <dgm:pt modelId="{735150DE-5346-40F9-A39D-680B12627CC2}" type="pres">
      <dgm:prSet presAssocID="{C8C926FF-D8C9-4130-A910-9CC619A794C2}" presName="hierRoot1" presStyleCnt="0">
        <dgm:presLayoutVars>
          <dgm:hierBranch val="init"/>
        </dgm:presLayoutVars>
      </dgm:prSet>
      <dgm:spPr/>
    </dgm:pt>
    <dgm:pt modelId="{1CE8F92E-B741-4C3C-A05B-DF755F6FFE8C}" type="pres">
      <dgm:prSet presAssocID="{C8C926FF-D8C9-4130-A910-9CC619A794C2}" presName="rootComposite1" presStyleCnt="0"/>
      <dgm:spPr/>
    </dgm:pt>
    <dgm:pt modelId="{AD271250-21BC-4A93-866D-4069ED3E777C}" type="pres">
      <dgm:prSet presAssocID="{C8C926FF-D8C9-4130-A910-9CC619A794C2}" presName="rootText1" presStyleLbl="node0" presStyleIdx="0" presStyleCnt="2">
        <dgm:presLayoutVars>
          <dgm:chPref val="3"/>
        </dgm:presLayoutVars>
      </dgm:prSet>
      <dgm:spPr/>
    </dgm:pt>
    <dgm:pt modelId="{61E24632-D888-4FE8-B81F-9D1597EA0BED}" type="pres">
      <dgm:prSet presAssocID="{C8C926FF-D8C9-4130-A910-9CC619A794C2}" presName="rootConnector1" presStyleLbl="node1" presStyleIdx="0" presStyleCnt="0"/>
      <dgm:spPr/>
    </dgm:pt>
    <dgm:pt modelId="{6F6D5314-3497-4E9D-8702-DCDC7CDA1A22}" type="pres">
      <dgm:prSet presAssocID="{C8C926FF-D8C9-4130-A910-9CC619A794C2}" presName="hierChild2" presStyleCnt="0"/>
      <dgm:spPr/>
    </dgm:pt>
    <dgm:pt modelId="{ABE1CDA5-481B-4941-9A87-380FA331714F}" type="pres">
      <dgm:prSet presAssocID="{C8C926FF-D8C9-4130-A910-9CC619A794C2}" presName="hierChild3" presStyleCnt="0"/>
      <dgm:spPr/>
    </dgm:pt>
    <dgm:pt modelId="{622EDC5D-75ED-474B-BDB0-0979346F0248}" type="pres">
      <dgm:prSet presAssocID="{7385C8BA-0B08-4BD7-A411-66529F65A869}" presName="hierRoot1" presStyleCnt="0">
        <dgm:presLayoutVars>
          <dgm:hierBranch val="init"/>
        </dgm:presLayoutVars>
      </dgm:prSet>
      <dgm:spPr/>
    </dgm:pt>
    <dgm:pt modelId="{64A4E284-788B-44C7-BD7A-B7CD4B9CF294}" type="pres">
      <dgm:prSet presAssocID="{7385C8BA-0B08-4BD7-A411-66529F65A869}" presName="rootComposite1" presStyleCnt="0"/>
      <dgm:spPr/>
    </dgm:pt>
    <dgm:pt modelId="{471593AC-14B9-414B-9E51-02EA8CAE928E}" type="pres">
      <dgm:prSet presAssocID="{7385C8BA-0B08-4BD7-A411-66529F65A869}" presName="rootText1" presStyleLbl="node0" presStyleIdx="1" presStyleCnt="2">
        <dgm:presLayoutVars>
          <dgm:chPref val="3"/>
        </dgm:presLayoutVars>
      </dgm:prSet>
      <dgm:spPr/>
    </dgm:pt>
    <dgm:pt modelId="{0F9172BC-7D69-402A-BACD-D815DBC7F35F}" type="pres">
      <dgm:prSet presAssocID="{7385C8BA-0B08-4BD7-A411-66529F65A869}" presName="rootConnector1" presStyleLbl="node1" presStyleIdx="0" presStyleCnt="0"/>
      <dgm:spPr/>
    </dgm:pt>
    <dgm:pt modelId="{4E64C40D-4A8A-4C81-AE4D-1C7D2FCFAC57}" type="pres">
      <dgm:prSet presAssocID="{7385C8BA-0B08-4BD7-A411-66529F65A869}" presName="hierChild2" presStyleCnt="0"/>
      <dgm:spPr/>
    </dgm:pt>
    <dgm:pt modelId="{0FD32EBD-A103-421E-B595-2EFFB0C95272}" type="pres">
      <dgm:prSet presAssocID="{7385C8BA-0B08-4BD7-A411-66529F65A869}" presName="hierChild3" presStyleCnt="0"/>
      <dgm:spPr/>
    </dgm:pt>
  </dgm:ptLst>
  <dgm:cxnLst>
    <dgm:cxn modelId="{0198BA04-B40A-4765-85EC-85E53F037275}" type="presOf" srcId="{C8C926FF-D8C9-4130-A910-9CC619A794C2}" destId="{61E24632-D888-4FE8-B81F-9D1597EA0BED}" srcOrd="1" destOrd="0" presId="urn:microsoft.com/office/officeart/2009/3/layout/HorizontalOrganizationChart"/>
    <dgm:cxn modelId="{B8A8E637-1186-4ED8-B50D-B6035005D368}" srcId="{68C84E9A-AF39-45F4-A3C2-540F3F2711B1}" destId="{C8C926FF-D8C9-4130-A910-9CC619A794C2}" srcOrd="0" destOrd="0" parTransId="{29387356-EC93-48C1-8298-6D27CBAC19A6}" sibTransId="{9DDFFDDF-8F84-4446-A2C6-2524B7D702BD}"/>
    <dgm:cxn modelId="{4CDEDD42-CA57-4428-B6E7-B922C6E6D9BE}" srcId="{68C84E9A-AF39-45F4-A3C2-540F3F2711B1}" destId="{7385C8BA-0B08-4BD7-A411-66529F65A869}" srcOrd="1" destOrd="0" parTransId="{CB1EF5AD-C423-47C4-A137-BDBD30F0C6AF}" sibTransId="{789BA291-464A-4C9D-BAF2-9140A4071CB0}"/>
    <dgm:cxn modelId="{69E36FA3-B960-4E20-970C-EFFD5D005DAF}" type="presOf" srcId="{C8C926FF-D8C9-4130-A910-9CC619A794C2}" destId="{AD271250-21BC-4A93-866D-4069ED3E777C}" srcOrd="0" destOrd="0" presId="urn:microsoft.com/office/officeart/2009/3/layout/HorizontalOrganizationChart"/>
    <dgm:cxn modelId="{87417DC5-5C84-44DA-A84F-AF7652C4C232}" type="presOf" srcId="{68C84E9A-AF39-45F4-A3C2-540F3F2711B1}" destId="{AACD610C-9EEF-40E1-9CD9-65ECCEC3A6B8}" srcOrd="0" destOrd="0" presId="urn:microsoft.com/office/officeart/2009/3/layout/HorizontalOrganizationChart"/>
    <dgm:cxn modelId="{7814D0DC-FF60-4378-8C73-01329AD81330}" type="presOf" srcId="{7385C8BA-0B08-4BD7-A411-66529F65A869}" destId="{471593AC-14B9-414B-9E51-02EA8CAE928E}" srcOrd="0" destOrd="0" presId="urn:microsoft.com/office/officeart/2009/3/layout/HorizontalOrganizationChart"/>
    <dgm:cxn modelId="{FA66BCF2-70BB-4504-B7DE-9117D39FBF3E}" type="presOf" srcId="{7385C8BA-0B08-4BD7-A411-66529F65A869}" destId="{0F9172BC-7D69-402A-BACD-D815DBC7F35F}" srcOrd="1" destOrd="0" presId="urn:microsoft.com/office/officeart/2009/3/layout/HorizontalOrganizationChart"/>
    <dgm:cxn modelId="{677535BF-6BA8-48CC-9512-979F38AC5FA1}" type="presParOf" srcId="{AACD610C-9EEF-40E1-9CD9-65ECCEC3A6B8}" destId="{735150DE-5346-40F9-A39D-680B12627CC2}" srcOrd="0" destOrd="0" presId="urn:microsoft.com/office/officeart/2009/3/layout/HorizontalOrganizationChart"/>
    <dgm:cxn modelId="{ACAB01D5-939F-4BA0-8949-BAC32624A232}" type="presParOf" srcId="{735150DE-5346-40F9-A39D-680B12627CC2}" destId="{1CE8F92E-B741-4C3C-A05B-DF755F6FFE8C}" srcOrd="0" destOrd="0" presId="urn:microsoft.com/office/officeart/2009/3/layout/HorizontalOrganizationChart"/>
    <dgm:cxn modelId="{2CE23AE3-D4DF-4EC1-A056-416848A3C814}" type="presParOf" srcId="{1CE8F92E-B741-4C3C-A05B-DF755F6FFE8C}" destId="{AD271250-21BC-4A93-866D-4069ED3E777C}" srcOrd="0" destOrd="0" presId="urn:microsoft.com/office/officeart/2009/3/layout/HorizontalOrganizationChart"/>
    <dgm:cxn modelId="{95BB8B59-4F3E-4EC4-A346-C9925BD5364F}" type="presParOf" srcId="{1CE8F92E-B741-4C3C-A05B-DF755F6FFE8C}" destId="{61E24632-D888-4FE8-B81F-9D1597EA0BED}" srcOrd="1" destOrd="0" presId="urn:microsoft.com/office/officeart/2009/3/layout/HorizontalOrganizationChart"/>
    <dgm:cxn modelId="{B9E9300E-A911-4D57-905B-D202F405A968}" type="presParOf" srcId="{735150DE-5346-40F9-A39D-680B12627CC2}" destId="{6F6D5314-3497-4E9D-8702-DCDC7CDA1A22}" srcOrd="1" destOrd="0" presId="urn:microsoft.com/office/officeart/2009/3/layout/HorizontalOrganizationChart"/>
    <dgm:cxn modelId="{15A9AA90-9B39-410F-8C26-A2C2007BCB44}" type="presParOf" srcId="{735150DE-5346-40F9-A39D-680B12627CC2}" destId="{ABE1CDA5-481B-4941-9A87-380FA331714F}" srcOrd="2" destOrd="0" presId="urn:microsoft.com/office/officeart/2009/3/layout/HorizontalOrganizationChart"/>
    <dgm:cxn modelId="{2EA74CC3-D08B-4CAF-9101-0371E3E8D66E}" type="presParOf" srcId="{AACD610C-9EEF-40E1-9CD9-65ECCEC3A6B8}" destId="{622EDC5D-75ED-474B-BDB0-0979346F0248}" srcOrd="1" destOrd="0" presId="urn:microsoft.com/office/officeart/2009/3/layout/HorizontalOrganizationChart"/>
    <dgm:cxn modelId="{870A427B-1A72-40A3-B32A-3C8DD134F529}" type="presParOf" srcId="{622EDC5D-75ED-474B-BDB0-0979346F0248}" destId="{64A4E284-788B-44C7-BD7A-B7CD4B9CF294}" srcOrd="0" destOrd="0" presId="urn:microsoft.com/office/officeart/2009/3/layout/HorizontalOrganizationChart"/>
    <dgm:cxn modelId="{083861B9-35ED-49A0-81BF-27B757C269A8}" type="presParOf" srcId="{64A4E284-788B-44C7-BD7A-B7CD4B9CF294}" destId="{471593AC-14B9-414B-9E51-02EA8CAE928E}" srcOrd="0" destOrd="0" presId="urn:microsoft.com/office/officeart/2009/3/layout/HorizontalOrganizationChart"/>
    <dgm:cxn modelId="{9FEFB1E1-BA48-4536-9443-E16C54CBB1B1}" type="presParOf" srcId="{64A4E284-788B-44C7-BD7A-B7CD4B9CF294}" destId="{0F9172BC-7D69-402A-BACD-D815DBC7F35F}" srcOrd="1" destOrd="0" presId="urn:microsoft.com/office/officeart/2009/3/layout/HorizontalOrganizationChart"/>
    <dgm:cxn modelId="{21C052DB-27AC-4AE0-A615-E87E02E14097}" type="presParOf" srcId="{622EDC5D-75ED-474B-BDB0-0979346F0248}" destId="{4E64C40D-4A8A-4C81-AE4D-1C7D2FCFAC57}" srcOrd="1" destOrd="0" presId="urn:microsoft.com/office/officeart/2009/3/layout/HorizontalOrganizationChart"/>
    <dgm:cxn modelId="{92CDFADA-1F7E-4374-B42B-7BE133AC2652}" type="presParOf" srcId="{622EDC5D-75ED-474B-BDB0-0979346F0248}" destId="{0FD32EBD-A103-421E-B595-2EFFB0C95272}"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7900D5-CF4C-4740-B2B1-4D6E70AFD8A9}">
      <dsp:nvSpPr>
        <dsp:cNvPr id="0" name=""/>
        <dsp:cNvSpPr/>
      </dsp:nvSpPr>
      <dsp:spPr>
        <a:xfrm>
          <a:off x="0" y="0"/>
          <a:ext cx="8263536" cy="768606"/>
        </a:xfrm>
        <a:prstGeom prst="roundRect">
          <a:avLst>
            <a:gd name="adj" fmla="val 10000"/>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Image Binarization</a:t>
          </a:r>
          <a:endParaRPr lang="en-US" sz="3300" kern="1200" dirty="0"/>
        </a:p>
      </dsp:txBody>
      <dsp:txXfrm>
        <a:off x="22512" y="22512"/>
        <a:ext cx="7344221" cy="723582"/>
      </dsp:txXfrm>
    </dsp:sp>
    <dsp:sp modelId="{92CB2872-87C9-4174-9D88-81EED7730445}">
      <dsp:nvSpPr>
        <dsp:cNvPr id="0" name=""/>
        <dsp:cNvSpPr/>
      </dsp:nvSpPr>
      <dsp:spPr>
        <a:xfrm>
          <a:off x="617082" y="875357"/>
          <a:ext cx="8263536" cy="768606"/>
        </a:xfrm>
        <a:prstGeom prst="roundRect">
          <a:avLst>
            <a:gd name="adj" fmla="val 10000"/>
          </a:avLst>
        </a:prstGeom>
        <a:solidFill>
          <a:schemeClr val="accent2">
            <a:hueOff val="-2188608"/>
            <a:satOff val="-1975"/>
            <a:lumOff val="-44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Spatial Pooler</a:t>
          </a:r>
          <a:endParaRPr lang="en-US" sz="3300" kern="1200" dirty="0"/>
        </a:p>
      </dsp:txBody>
      <dsp:txXfrm>
        <a:off x="639594" y="897869"/>
        <a:ext cx="7101835" cy="723582"/>
      </dsp:txXfrm>
    </dsp:sp>
    <dsp:sp modelId="{D73EEC70-451D-47B7-82E3-BA47F2097BB9}">
      <dsp:nvSpPr>
        <dsp:cNvPr id="0" name=""/>
        <dsp:cNvSpPr/>
      </dsp:nvSpPr>
      <dsp:spPr>
        <a:xfrm>
          <a:off x="1234164" y="1750715"/>
          <a:ext cx="8263536" cy="768606"/>
        </a:xfrm>
        <a:prstGeom prst="roundRect">
          <a:avLst>
            <a:gd name="adj" fmla="val 10000"/>
          </a:avLst>
        </a:prstGeom>
        <a:solidFill>
          <a:schemeClr val="accent2">
            <a:hueOff val="-4377215"/>
            <a:satOff val="-3950"/>
            <a:lumOff val="-881"/>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KNN and HTM Classification</a:t>
          </a:r>
        </a:p>
      </dsp:txBody>
      <dsp:txXfrm>
        <a:off x="1256676" y="1773227"/>
        <a:ext cx="7101835" cy="723582"/>
      </dsp:txXfrm>
    </dsp:sp>
    <dsp:sp modelId="{6912B9D4-BA88-4888-B362-A8C347AFC572}">
      <dsp:nvSpPr>
        <dsp:cNvPr id="0" name=""/>
        <dsp:cNvSpPr/>
      </dsp:nvSpPr>
      <dsp:spPr>
        <a:xfrm>
          <a:off x="1851246" y="2626073"/>
          <a:ext cx="8263536" cy="768606"/>
        </a:xfrm>
        <a:prstGeom prst="roundRect">
          <a:avLst>
            <a:gd name="adj" fmla="val 10000"/>
          </a:avLst>
        </a:prstGeom>
        <a:solidFill>
          <a:schemeClr val="accent2">
            <a:hueOff val="-6565823"/>
            <a:satOff val="-5925"/>
            <a:lumOff val="-1321"/>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Reconstruction</a:t>
          </a:r>
        </a:p>
      </dsp:txBody>
      <dsp:txXfrm>
        <a:off x="1873758" y="2648585"/>
        <a:ext cx="7101835" cy="723582"/>
      </dsp:txXfrm>
    </dsp:sp>
    <dsp:sp modelId="{48331F1E-3CFB-4694-8981-0E8377976106}">
      <dsp:nvSpPr>
        <dsp:cNvPr id="0" name=""/>
        <dsp:cNvSpPr/>
      </dsp:nvSpPr>
      <dsp:spPr>
        <a:xfrm>
          <a:off x="2468328" y="3501431"/>
          <a:ext cx="8263536" cy="768606"/>
        </a:xfrm>
        <a:prstGeom prst="roundRect">
          <a:avLst>
            <a:gd name="adj" fmla="val 10000"/>
          </a:avLst>
        </a:prstGeom>
        <a:solidFill>
          <a:schemeClr val="accent2">
            <a:hueOff val="-8754431"/>
            <a:satOff val="-7900"/>
            <a:lumOff val="-176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dirty="0"/>
            <a:t>Similarity Calculation</a:t>
          </a:r>
        </a:p>
      </dsp:txBody>
      <dsp:txXfrm>
        <a:off x="2490840" y="3523943"/>
        <a:ext cx="7101835" cy="723582"/>
      </dsp:txXfrm>
    </dsp:sp>
    <dsp:sp modelId="{294C6611-3C39-42B1-B224-F22934F43614}">
      <dsp:nvSpPr>
        <dsp:cNvPr id="0" name=""/>
        <dsp:cNvSpPr/>
      </dsp:nvSpPr>
      <dsp:spPr>
        <a:xfrm>
          <a:off x="7763941" y="561509"/>
          <a:ext cx="499594" cy="499594"/>
        </a:xfrm>
        <a:prstGeom prst="downArrow">
          <a:avLst>
            <a:gd name="adj1" fmla="val 55000"/>
            <a:gd name="adj2" fmla="val 45000"/>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7876350" y="561509"/>
        <a:ext cx="274776" cy="375944"/>
      </dsp:txXfrm>
    </dsp:sp>
    <dsp:sp modelId="{09F7A8E1-047F-4B9F-AA4A-E96485952A2D}">
      <dsp:nvSpPr>
        <dsp:cNvPr id="0" name=""/>
        <dsp:cNvSpPr/>
      </dsp:nvSpPr>
      <dsp:spPr>
        <a:xfrm>
          <a:off x="8381023" y="1436867"/>
          <a:ext cx="499594" cy="499594"/>
        </a:xfrm>
        <a:prstGeom prst="downArrow">
          <a:avLst>
            <a:gd name="adj1" fmla="val 55000"/>
            <a:gd name="adj2" fmla="val 45000"/>
          </a:avLst>
        </a:prstGeom>
        <a:solidFill>
          <a:schemeClr val="accent2">
            <a:tint val="40000"/>
            <a:alpha val="90000"/>
            <a:hueOff val="-3277816"/>
            <a:satOff val="-1922"/>
            <a:lumOff val="-239"/>
            <a:alphaOff val="0"/>
          </a:schemeClr>
        </a:solidFill>
        <a:ln w="15875" cap="rnd" cmpd="sng" algn="ctr">
          <a:solidFill>
            <a:schemeClr val="accent2">
              <a:tint val="40000"/>
              <a:alpha val="90000"/>
              <a:hueOff val="-3277816"/>
              <a:satOff val="-1922"/>
              <a:lumOff val="-23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493432" y="1436867"/>
        <a:ext cx="274776" cy="375944"/>
      </dsp:txXfrm>
    </dsp:sp>
    <dsp:sp modelId="{77C524A4-1122-422B-A9A6-B4AD8C5CBC9C}">
      <dsp:nvSpPr>
        <dsp:cNvPr id="0" name=""/>
        <dsp:cNvSpPr/>
      </dsp:nvSpPr>
      <dsp:spPr>
        <a:xfrm>
          <a:off x="8998106" y="2299415"/>
          <a:ext cx="499594" cy="499594"/>
        </a:xfrm>
        <a:prstGeom prst="downArrow">
          <a:avLst>
            <a:gd name="adj1" fmla="val 55000"/>
            <a:gd name="adj2" fmla="val 45000"/>
          </a:avLst>
        </a:prstGeom>
        <a:solidFill>
          <a:schemeClr val="accent2">
            <a:tint val="40000"/>
            <a:alpha val="90000"/>
            <a:hueOff val="-6555631"/>
            <a:satOff val="-3844"/>
            <a:lumOff val="-479"/>
            <a:alphaOff val="0"/>
          </a:schemeClr>
        </a:solidFill>
        <a:ln w="15875" cap="rnd" cmpd="sng" algn="ctr">
          <a:solidFill>
            <a:schemeClr val="accent2">
              <a:tint val="40000"/>
              <a:alpha val="90000"/>
              <a:hueOff val="-6555631"/>
              <a:satOff val="-3844"/>
              <a:lumOff val="-47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9110515" y="2299415"/>
        <a:ext cx="274776" cy="375944"/>
      </dsp:txXfrm>
    </dsp:sp>
    <dsp:sp modelId="{98781923-123A-4F23-A49C-424ABE0A431D}">
      <dsp:nvSpPr>
        <dsp:cNvPr id="0" name=""/>
        <dsp:cNvSpPr/>
      </dsp:nvSpPr>
      <dsp:spPr>
        <a:xfrm>
          <a:off x="9615188" y="3183313"/>
          <a:ext cx="499594" cy="499594"/>
        </a:xfrm>
        <a:prstGeom prst="downArrow">
          <a:avLst>
            <a:gd name="adj1" fmla="val 55000"/>
            <a:gd name="adj2" fmla="val 45000"/>
          </a:avLst>
        </a:prstGeom>
        <a:solidFill>
          <a:schemeClr val="accent2">
            <a:tint val="40000"/>
            <a:alpha val="90000"/>
            <a:hueOff val="-9833447"/>
            <a:satOff val="-5766"/>
            <a:lumOff val="-718"/>
            <a:alphaOff val="0"/>
          </a:schemeClr>
        </a:solidFill>
        <a:ln w="15875" cap="rnd" cmpd="sng" algn="ctr">
          <a:solidFill>
            <a:schemeClr val="accent2">
              <a:tint val="40000"/>
              <a:alpha val="90000"/>
              <a:hueOff val="-9833447"/>
              <a:satOff val="-5766"/>
              <a:lumOff val="-71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IN" sz="2200" kern="1200"/>
        </a:p>
      </dsp:txBody>
      <dsp:txXfrm>
        <a:off x="9727597" y="3183313"/>
        <a:ext cx="274776" cy="3759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271250-21BC-4A93-866D-4069ED3E777C}">
      <dsp:nvSpPr>
        <dsp:cNvPr id="0" name=""/>
        <dsp:cNvSpPr/>
      </dsp:nvSpPr>
      <dsp:spPr>
        <a:xfrm>
          <a:off x="688" y="93434"/>
          <a:ext cx="5642185" cy="1720866"/>
        </a:xfrm>
        <a:prstGeom prst="rect">
          <a:avLst/>
        </a:prstGeom>
        <a:gradFill rotWithShape="0">
          <a:gsLst>
            <a:gs pos="0">
              <a:schemeClr val="accent1">
                <a:hueOff val="0"/>
                <a:satOff val="0"/>
                <a:lumOff val="0"/>
                <a:alphaOff val="0"/>
                <a:tint val="98000"/>
                <a:hueMod val="94000"/>
                <a:satMod val="130000"/>
                <a:lumMod val="128000"/>
              </a:schemeClr>
            </a:gs>
            <a:gs pos="100000">
              <a:schemeClr val="accent1">
                <a:hueOff val="0"/>
                <a:satOff val="0"/>
                <a:lumOff val="0"/>
                <a:alphaOff val="0"/>
                <a:shade val="94000"/>
                <a:lumMod val="88000"/>
              </a:schemeClr>
            </a:gs>
          </a:gsLst>
          <a:lin ang="5400000" scaled="0"/>
        </a:grad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0" i="0" kern="1200"/>
            <a:t>KNN, a distance-based classifier, retrieves the closest match from the training dataset, aiding direct pattern reconstruction.</a:t>
          </a:r>
          <a:endParaRPr lang="en-US" sz="2800" kern="1200"/>
        </a:p>
      </dsp:txBody>
      <dsp:txXfrm>
        <a:off x="688" y="93434"/>
        <a:ext cx="5642185" cy="1720866"/>
      </dsp:txXfrm>
    </dsp:sp>
    <dsp:sp modelId="{471593AC-14B9-414B-9E51-02EA8CAE928E}">
      <dsp:nvSpPr>
        <dsp:cNvPr id="0" name=""/>
        <dsp:cNvSpPr/>
      </dsp:nvSpPr>
      <dsp:spPr>
        <a:xfrm>
          <a:off x="688" y="2519574"/>
          <a:ext cx="5642185" cy="1720866"/>
        </a:xfrm>
        <a:prstGeom prst="rect">
          <a:avLst/>
        </a:prstGeom>
        <a:gradFill rotWithShape="0">
          <a:gsLst>
            <a:gs pos="0">
              <a:schemeClr val="accent1">
                <a:hueOff val="0"/>
                <a:satOff val="0"/>
                <a:lumOff val="0"/>
                <a:alphaOff val="0"/>
                <a:tint val="98000"/>
                <a:hueMod val="94000"/>
                <a:satMod val="130000"/>
                <a:lumMod val="128000"/>
              </a:schemeClr>
            </a:gs>
            <a:gs pos="100000">
              <a:schemeClr val="accent1">
                <a:hueOff val="0"/>
                <a:satOff val="0"/>
                <a:lumOff val="0"/>
                <a:alphaOff val="0"/>
                <a:shade val="94000"/>
                <a:lumMod val="88000"/>
              </a:schemeClr>
            </a:gs>
          </a:gsLst>
          <a:lin ang="5400000" scaled="0"/>
        </a:gradFill>
        <a:ln>
          <a:noFill/>
        </a:ln>
        <a:effectLst>
          <a:innerShdw blurRad="25400" dist="12700" dir="13500000">
            <a:srgbClr val="000000">
              <a:alpha val="4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b="0" i="0" kern="1200"/>
            <a:t>HTM, inspired by biological intelligence, learns spatial patterns and continuously adapts over time.</a:t>
          </a:r>
          <a:endParaRPr lang="en-US" sz="2800" kern="1200"/>
        </a:p>
      </dsp:txBody>
      <dsp:txXfrm>
        <a:off x="688" y="2519574"/>
        <a:ext cx="5642185" cy="172086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092823-BF40-114E-6FB1-862B8DB56E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DB9A936-3FF5-CE5F-2AF2-1A50836CB8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BA8CDE7-B6BD-4EA6-8169-0CA9B8E3E653}" type="datetimeFigureOut">
              <a:rPr lang="en-IN" smtClean="0"/>
              <a:t>21-03-2025</a:t>
            </a:fld>
            <a:endParaRPr lang="en-IN"/>
          </a:p>
        </p:txBody>
      </p:sp>
      <p:sp>
        <p:nvSpPr>
          <p:cNvPr id="4" name="Footer Placeholder 3">
            <a:extLst>
              <a:ext uri="{FF2B5EF4-FFF2-40B4-BE49-F238E27FC236}">
                <a16:creationId xmlns:a16="http://schemas.microsoft.com/office/drawing/2014/main" id="{39381B5A-4EB1-7E47-0A01-87A21FF185F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Frankfurt University Of Applied Sciences</a:t>
            </a:r>
            <a:endParaRPr lang="en-IN"/>
          </a:p>
        </p:txBody>
      </p:sp>
      <p:sp>
        <p:nvSpPr>
          <p:cNvPr id="5" name="Slide Number Placeholder 4">
            <a:extLst>
              <a:ext uri="{FF2B5EF4-FFF2-40B4-BE49-F238E27FC236}">
                <a16:creationId xmlns:a16="http://schemas.microsoft.com/office/drawing/2014/main" id="{F85D383F-C9CB-76F8-D298-725A339CA12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B1FE775-40FF-4764-BD27-AA46A2F93AEE}" type="slidenum">
              <a:rPr lang="en-IN" smtClean="0"/>
              <a:t>‹#›</a:t>
            </a:fld>
            <a:endParaRPr lang="en-IN"/>
          </a:p>
        </p:txBody>
      </p:sp>
    </p:spTree>
    <p:extLst>
      <p:ext uri="{BB962C8B-B14F-4D97-AF65-F5344CB8AC3E}">
        <p14:creationId xmlns:p14="http://schemas.microsoft.com/office/powerpoint/2010/main" val="3789489471"/>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1399BB-68BA-4FE2-B420-CD0483A8366A}" type="datetimeFigureOut">
              <a:rPr lang="en-IN" smtClean="0"/>
              <a:t>21-03-2025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Frankfurt University Of Applied Sciences</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370BAE-D78C-44C4-A6F5-36785DCC9D75}" type="slidenum">
              <a:rPr lang="en-IN" smtClean="0"/>
              <a:t>‹#›</a:t>
            </a:fld>
            <a:endParaRPr lang="en-IN"/>
          </a:p>
        </p:txBody>
      </p:sp>
    </p:spTree>
    <p:extLst>
      <p:ext uri="{BB962C8B-B14F-4D97-AF65-F5344CB8AC3E}">
        <p14:creationId xmlns:p14="http://schemas.microsoft.com/office/powerpoint/2010/main" val="4210897739"/>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Frankfurt University Of Applied Sciences</a:t>
            </a:r>
            <a:endParaRPr lang="en-IN"/>
          </a:p>
        </p:txBody>
      </p:sp>
    </p:spTree>
    <p:extLst>
      <p:ext uri="{BB962C8B-B14F-4D97-AF65-F5344CB8AC3E}">
        <p14:creationId xmlns:p14="http://schemas.microsoft.com/office/powerpoint/2010/main" val="4758490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1BE069-AB1D-400D-B488-3D951CB5699F}" type="datetime1">
              <a:rPr lang="en-US" smtClean="0"/>
              <a:t>3/21/2025</a:t>
            </a:fld>
            <a:endParaRPr lang="en-US" dirty="0"/>
          </a:p>
        </p:txBody>
      </p:sp>
      <p:sp>
        <p:nvSpPr>
          <p:cNvPr id="5" name="Footer Placeholder 4"/>
          <p:cNvSpPr>
            <a:spLocks noGrp="1"/>
          </p:cNvSpPr>
          <p:nvPr>
            <p:ph type="ftr" sz="quarter" idx="11"/>
          </p:nvPr>
        </p:nvSpPr>
        <p:spPr/>
        <p:txBody>
          <a:bodyPr/>
          <a:lstStyle/>
          <a:p>
            <a:r>
              <a:rPr lang="en-US"/>
              <a:t>Frankfurt University Of Applied Sciences</a:t>
            </a:r>
          </a:p>
        </p:txBody>
      </p:sp>
      <p:sp>
        <p:nvSpPr>
          <p:cNvPr id="6" name="Slide Number Placeholder 5"/>
          <p:cNvSpPr>
            <a:spLocks noGrp="1"/>
          </p:cNvSpPr>
          <p:nvPr>
            <p:ph type="sldNum" sz="quarter" idx="12"/>
          </p:nvPr>
        </p:nvSpPr>
        <p:spPr/>
        <p:txBody>
          <a:bodyPr/>
          <a:lstStyle/>
          <a:p>
            <a:fld id="{D39607A7-8386-47DB-8578-DDEDD194E5D4}" type="slidenum">
              <a:rPr lang="en-US" smtClean="0"/>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137788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322199-1009-4ADD-B9C7-75BE4F4A40C5}" type="datetime1">
              <a:rPr lang="en-US" smtClean="0"/>
              <a:t>3/21/2025</a:t>
            </a:fld>
            <a:endParaRPr lang="en-US"/>
          </a:p>
        </p:txBody>
      </p:sp>
      <p:sp>
        <p:nvSpPr>
          <p:cNvPr id="5" name="Footer Placeholder 4"/>
          <p:cNvSpPr>
            <a:spLocks noGrp="1"/>
          </p:cNvSpPr>
          <p:nvPr>
            <p:ph type="ftr" sz="quarter" idx="11"/>
          </p:nvPr>
        </p:nvSpPr>
        <p:spPr/>
        <p:txBody>
          <a:bodyPr/>
          <a:lstStyle>
            <a:lvl1pPr>
              <a:defRPr sz="1600"/>
            </a:lvl1pPr>
          </a:lstStyle>
          <a:p>
            <a:r>
              <a:rPr lang="en-US" dirty="0"/>
              <a:t>Frankfurt University Of Applied Sciences</a:t>
            </a:r>
          </a:p>
        </p:txBody>
      </p:sp>
      <p:sp>
        <p:nvSpPr>
          <p:cNvPr id="6" name="Slide Number Placeholder 5"/>
          <p:cNvSpPr>
            <a:spLocks noGrp="1"/>
          </p:cNvSpPr>
          <p:nvPr>
            <p:ph type="sldNum" sz="quarter" idx="12"/>
          </p:nvPr>
        </p:nvSpPr>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94164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C6DEAE-1E8F-4934-AB40-49D62CF6B610}" type="datetime1">
              <a:rPr lang="en-US" smtClean="0"/>
              <a:t>3/21/2025</a:t>
            </a:fld>
            <a:endParaRPr lang="en-US"/>
          </a:p>
        </p:txBody>
      </p:sp>
      <p:sp>
        <p:nvSpPr>
          <p:cNvPr id="5" name="Footer Placeholder 4"/>
          <p:cNvSpPr>
            <a:spLocks noGrp="1"/>
          </p:cNvSpPr>
          <p:nvPr>
            <p:ph type="ftr" sz="quarter" idx="11"/>
          </p:nvPr>
        </p:nvSpPr>
        <p:spPr/>
        <p:txBody>
          <a:bodyPr/>
          <a:lstStyle/>
          <a:p>
            <a:r>
              <a:rPr lang="en-US"/>
              <a:t>Frankfurt University Of Applied Sciences</a:t>
            </a:r>
          </a:p>
        </p:txBody>
      </p:sp>
      <p:sp>
        <p:nvSpPr>
          <p:cNvPr id="6" name="Slide Number Placeholder 5"/>
          <p:cNvSpPr>
            <a:spLocks noGrp="1"/>
          </p:cNvSpPr>
          <p:nvPr>
            <p:ph type="sldNum" sz="quarter" idx="12"/>
          </p:nvPr>
        </p:nvSpPr>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229762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00A049-A293-4B01-99CD-7ACD2181F901}" type="datetime1">
              <a:rPr lang="en-US" smtClean="0"/>
              <a:t>3/21/2025</a:t>
            </a:fld>
            <a:endParaRPr lang="en-US"/>
          </a:p>
        </p:txBody>
      </p:sp>
      <p:sp>
        <p:nvSpPr>
          <p:cNvPr id="6" name="Footer Placeholder 5"/>
          <p:cNvSpPr>
            <a:spLocks noGrp="1"/>
          </p:cNvSpPr>
          <p:nvPr>
            <p:ph type="ftr" sz="quarter" idx="11"/>
          </p:nvPr>
        </p:nvSpPr>
        <p:spPr/>
        <p:txBody>
          <a:bodyPr/>
          <a:lstStyle/>
          <a:p>
            <a:r>
              <a:rPr lang="en-US"/>
              <a:t>Frankfurt University Of Applied Sciences</a:t>
            </a:r>
          </a:p>
        </p:txBody>
      </p:sp>
      <p:sp>
        <p:nvSpPr>
          <p:cNvPr id="7" name="Slide Number Placeholder 6"/>
          <p:cNvSpPr>
            <a:spLocks noGrp="1"/>
          </p:cNvSpPr>
          <p:nvPr>
            <p:ph type="sldNum" sz="quarter" idx="12"/>
          </p:nvPr>
        </p:nvSpPr>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007382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353ABB-1CA0-4326-A36A-216E7E7AF0FB}" type="datetime1">
              <a:rPr lang="en-US" smtClean="0"/>
              <a:t>3/21/2025</a:t>
            </a:fld>
            <a:endParaRPr lang="en-US"/>
          </a:p>
        </p:txBody>
      </p:sp>
      <p:sp>
        <p:nvSpPr>
          <p:cNvPr id="8" name="Footer Placeholder 7"/>
          <p:cNvSpPr>
            <a:spLocks noGrp="1"/>
          </p:cNvSpPr>
          <p:nvPr>
            <p:ph type="ftr" sz="quarter" idx="11"/>
          </p:nvPr>
        </p:nvSpPr>
        <p:spPr/>
        <p:txBody>
          <a:bodyPr/>
          <a:lstStyle/>
          <a:p>
            <a:r>
              <a:rPr lang="en-US"/>
              <a:t>Frankfurt University Of Applied Sciences</a:t>
            </a:r>
          </a:p>
        </p:txBody>
      </p:sp>
      <p:sp>
        <p:nvSpPr>
          <p:cNvPr id="9" name="Slide Number Placeholder 8"/>
          <p:cNvSpPr>
            <a:spLocks noGrp="1"/>
          </p:cNvSpPr>
          <p:nvPr>
            <p:ph type="sldNum" sz="quarter" idx="12"/>
          </p:nvPr>
        </p:nvSpPr>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667931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7A03B5-B8BF-485F-BD9F-7CA2C6A99F82}" type="datetime1">
              <a:rPr lang="en-US" smtClean="0"/>
              <a:t>3/21/2025</a:t>
            </a:fld>
            <a:endParaRPr lang="en-US"/>
          </a:p>
        </p:txBody>
      </p:sp>
      <p:sp>
        <p:nvSpPr>
          <p:cNvPr id="4" name="Footer Placeholder 3"/>
          <p:cNvSpPr>
            <a:spLocks noGrp="1"/>
          </p:cNvSpPr>
          <p:nvPr>
            <p:ph type="ftr" sz="quarter" idx="11"/>
          </p:nvPr>
        </p:nvSpPr>
        <p:spPr/>
        <p:txBody>
          <a:bodyPr/>
          <a:lstStyle/>
          <a:p>
            <a:r>
              <a:rPr lang="en-US"/>
              <a:t>Frankfurt University Of Applied Sciences</a:t>
            </a:r>
          </a:p>
        </p:txBody>
      </p:sp>
      <p:sp>
        <p:nvSpPr>
          <p:cNvPr id="5" name="Slide Number Placeholder 4"/>
          <p:cNvSpPr>
            <a:spLocks noGrp="1"/>
          </p:cNvSpPr>
          <p:nvPr>
            <p:ph type="sldNum" sz="quarter" idx="12"/>
          </p:nvPr>
        </p:nvSpPr>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649933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B4D5C5-2B47-41FA-8743-CC323EA50D7C}" type="datetime1">
              <a:rPr lang="en-US" smtClean="0"/>
              <a:t>3/21/2025</a:t>
            </a:fld>
            <a:endParaRPr lang="en-US"/>
          </a:p>
        </p:txBody>
      </p:sp>
      <p:sp>
        <p:nvSpPr>
          <p:cNvPr id="3" name="Footer Placeholder 2"/>
          <p:cNvSpPr>
            <a:spLocks noGrp="1"/>
          </p:cNvSpPr>
          <p:nvPr>
            <p:ph type="ftr" sz="quarter" idx="11"/>
          </p:nvPr>
        </p:nvSpPr>
        <p:spPr/>
        <p:txBody>
          <a:bodyPr/>
          <a:lstStyle/>
          <a:p>
            <a:r>
              <a:rPr lang="en-US"/>
              <a:t>Frankfurt University Of Applied Sciences</a:t>
            </a:r>
          </a:p>
        </p:txBody>
      </p:sp>
      <p:sp>
        <p:nvSpPr>
          <p:cNvPr id="4" name="Slide Number Placeholder 3"/>
          <p:cNvSpPr>
            <a:spLocks noGrp="1"/>
          </p:cNvSpPr>
          <p:nvPr>
            <p:ph type="sldNum" sz="quarter" idx="12"/>
          </p:nvPr>
        </p:nvSpPr>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210990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1DF8371-CC07-4435-9E09-0CA710D8FBE1}" type="datetime1">
              <a:rPr lang="en-US" smtClean="0"/>
              <a:t>3/21/2025</a:t>
            </a:fld>
            <a:endParaRPr lang="en-US"/>
          </a:p>
        </p:txBody>
      </p:sp>
      <p:sp>
        <p:nvSpPr>
          <p:cNvPr id="6" name="Footer Placeholder 5"/>
          <p:cNvSpPr>
            <a:spLocks noGrp="1"/>
          </p:cNvSpPr>
          <p:nvPr>
            <p:ph type="ftr" sz="quarter" idx="11"/>
          </p:nvPr>
        </p:nvSpPr>
        <p:spPr/>
        <p:txBody>
          <a:bodyPr/>
          <a:lstStyle/>
          <a:p>
            <a:r>
              <a:rPr lang="en-US"/>
              <a:t>Frankfurt University Of Applied Sciences</a:t>
            </a:r>
          </a:p>
        </p:txBody>
      </p:sp>
      <p:sp>
        <p:nvSpPr>
          <p:cNvPr id="7" name="Slide Number Placeholder 6"/>
          <p:cNvSpPr>
            <a:spLocks noGrp="1"/>
          </p:cNvSpPr>
          <p:nvPr>
            <p:ph type="sldNum" sz="quarter" idx="12"/>
          </p:nvPr>
        </p:nvSpPr>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064823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980D6E-DA56-4926-AF6E-D06154FD54CF}" type="datetime1">
              <a:rPr lang="en-US" smtClean="0"/>
              <a:t>3/21/2025</a:t>
            </a:fld>
            <a:endParaRPr lang="en-US"/>
          </a:p>
        </p:txBody>
      </p:sp>
      <p:sp>
        <p:nvSpPr>
          <p:cNvPr id="6" name="Footer Placeholder 5"/>
          <p:cNvSpPr>
            <a:spLocks noGrp="1"/>
          </p:cNvSpPr>
          <p:nvPr>
            <p:ph type="ftr" sz="quarter" idx="11"/>
          </p:nvPr>
        </p:nvSpPr>
        <p:spPr/>
        <p:txBody>
          <a:bodyPr/>
          <a:lstStyle/>
          <a:p>
            <a:r>
              <a:rPr lang="en-US"/>
              <a:t>Frankfurt University Of Applied Sciences</a:t>
            </a:r>
          </a:p>
        </p:txBody>
      </p:sp>
      <p:sp>
        <p:nvSpPr>
          <p:cNvPr id="7" name="Slide Number Placeholder 6"/>
          <p:cNvSpPr>
            <a:spLocks noGrp="1"/>
          </p:cNvSpPr>
          <p:nvPr>
            <p:ph type="sldNum" sz="quarter" idx="12"/>
          </p:nvPr>
        </p:nvSpPr>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338128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A0575C53-105A-4C60-9F21-63C2803FFCD3}" type="datetime1">
              <a:rPr lang="en-US" smtClean="0"/>
              <a:t>3/21/2025</a:t>
            </a:fld>
            <a:endParaRPr lang="en-US" dirty="0"/>
          </a:p>
        </p:txBody>
      </p:sp>
      <p:sp>
        <p:nvSpPr>
          <p:cNvPr id="4" name="Footer Placeholder 3"/>
          <p:cNvSpPr>
            <a:spLocks noGrp="1"/>
          </p:cNvSpPr>
          <p:nvPr>
            <p:ph type="ftr" sz="quarter" idx="11"/>
          </p:nvPr>
        </p:nvSpPr>
        <p:spPr/>
        <p:txBody>
          <a:bodyPr/>
          <a:lstStyle/>
          <a:p>
            <a:r>
              <a:rPr lang="en-US"/>
              <a:t>Frankfurt University Of Applied Sciences</a:t>
            </a:r>
            <a:endParaRPr lang="en-US" dirty="0"/>
          </a:p>
        </p:txBody>
      </p:sp>
      <p:sp>
        <p:nvSpPr>
          <p:cNvPr id="5" name="Slide Number Placeholder 4"/>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4106774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00B8A-CD51-43FB-809B-8ED6F52CDDF2}" type="datetime1">
              <a:rPr lang="en-US" smtClean="0"/>
              <a:t>3/21/2025</a:t>
            </a:fld>
            <a:endParaRPr lang="en-US" dirty="0"/>
          </a:p>
        </p:txBody>
      </p:sp>
      <p:sp>
        <p:nvSpPr>
          <p:cNvPr id="5" name="Footer Placeholder 4"/>
          <p:cNvSpPr>
            <a:spLocks noGrp="1"/>
          </p:cNvSpPr>
          <p:nvPr>
            <p:ph type="ftr" sz="quarter" idx="11"/>
          </p:nvPr>
        </p:nvSpPr>
        <p:spPr/>
        <p:txBody>
          <a:bodyPr/>
          <a:lstStyle/>
          <a:p>
            <a:r>
              <a:rPr lang="en-US"/>
              <a:t>Frankfurt University Of Applied Sciences</a:t>
            </a:r>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557664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54017F-B594-43B8-A681-A29503CEAEB1}" type="datetime1">
              <a:rPr lang="en-US" smtClean="0"/>
              <a:t>3/21/2025</a:t>
            </a:fld>
            <a:endParaRPr lang="en-US" dirty="0"/>
          </a:p>
        </p:txBody>
      </p:sp>
      <p:sp>
        <p:nvSpPr>
          <p:cNvPr id="5" name="Footer Placeholder 4"/>
          <p:cNvSpPr>
            <a:spLocks noGrp="1"/>
          </p:cNvSpPr>
          <p:nvPr>
            <p:ph type="ftr" sz="quarter" idx="11"/>
          </p:nvPr>
        </p:nvSpPr>
        <p:spPr/>
        <p:txBody>
          <a:bodyPr/>
          <a:lstStyle/>
          <a:p>
            <a:r>
              <a:rPr lang="en-US"/>
              <a:t>Frankfurt University Of Applied Sciences</a:t>
            </a:r>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1608789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C44635-E97B-4DD1-A0E7-B0E2BA76F601}" type="datetime1">
              <a:rPr lang="en-US" smtClean="0"/>
              <a:t>3/21/2025</a:t>
            </a:fld>
            <a:endParaRPr lang="en-US" dirty="0"/>
          </a:p>
        </p:txBody>
      </p:sp>
      <p:sp>
        <p:nvSpPr>
          <p:cNvPr id="5" name="Footer Placeholder 4"/>
          <p:cNvSpPr>
            <a:spLocks noGrp="1"/>
          </p:cNvSpPr>
          <p:nvPr>
            <p:ph type="ftr" sz="quarter" idx="11"/>
          </p:nvPr>
        </p:nvSpPr>
        <p:spPr/>
        <p:txBody>
          <a:bodyPr/>
          <a:lstStyle/>
          <a:p>
            <a:r>
              <a:rPr lang="en-US"/>
              <a:t>Frankfurt University Of Applied Sciences</a:t>
            </a:r>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5273025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397EC6-639F-449B-A065-A0A849787EAD}" type="datetime1">
              <a:rPr lang="en-US" smtClean="0"/>
              <a:t>3/21/2025</a:t>
            </a:fld>
            <a:endParaRPr lang="en-US" dirty="0"/>
          </a:p>
        </p:txBody>
      </p:sp>
      <p:sp>
        <p:nvSpPr>
          <p:cNvPr id="5" name="Footer Placeholder 4"/>
          <p:cNvSpPr>
            <a:spLocks noGrp="1"/>
          </p:cNvSpPr>
          <p:nvPr>
            <p:ph type="ftr" sz="quarter" idx="11"/>
          </p:nvPr>
        </p:nvSpPr>
        <p:spPr/>
        <p:txBody>
          <a:bodyPr/>
          <a:lstStyle/>
          <a:p>
            <a:r>
              <a:rPr lang="en-US"/>
              <a:t>Frankfurt University Of Applied Sciences</a:t>
            </a:r>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139436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B69D92-D321-4694-BD9A-D6663134EB25}" type="datetime1">
              <a:rPr lang="en-US" smtClean="0"/>
              <a:t>3/21/2025</a:t>
            </a:fld>
            <a:endParaRPr lang="en-US" dirty="0"/>
          </a:p>
        </p:txBody>
      </p:sp>
      <p:sp>
        <p:nvSpPr>
          <p:cNvPr id="5" name="Footer Placeholder 4"/>
          <p:cNvSpPr>
            <a:spLocks noGrp="1"/>
          </p:cNvSpPr>
          <p:nvPr>
            <p:ph type="ftr" sz="quarter" idx="11"/>
          </p:nvPr>
        </p:nvSpPr>
        <p:spPr/>
        <p:txBody>
          <a:bodyPr/>
          <a:lstStyle/>
          <a:p>
            <a:r>
              <a:rPr lang="en-US"/>
              <a:t>Frankfurt University Of Applied Sciences</a:t>
            </a:r>
            <a:endParaRPr lang="en-US" dirty="0"/>
          </a:p>
        </p:txBody>
      </p:sp>
      <p:sp>
        <p:nvSpPr>
          <p:cNvPr id="6" name="Slide Number Placeholder 5"/>
          <p:cNvSpPr>
            <a:spLocks noGrp="1"/>
          </p:cNvSpPr>
          <p:nvPr>
            <p:ph type="sldNum" sz="quarter" idx="12"/>
          </p:nvPr>
        </p:nvSpPr>
        <p:spPr/>
        <p:txBody>
          <a:body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40556786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D43E12-7133-4EF6-9E8B-A245EFE51196}" type="datetime1">
              <a:rPr lang="en-US" smtClean="0"/>
              <a:t>3/21/2025</a:t>
            </a:fld>
            <a:endParaRPr lang="en-US"/>
          </a:p>
        </p:txBody>
      </p:sp>
      <p:sp>
        <p:nvSpPr>
          <p:cNvPr id="5" name="Footer Placeholder 4"/>
          <p:cNvSpPr>
            <a:spLocks noGrp="1"/>
          </p:cNvSpPr>
          <p:nvPr>
            <p:ph type="ftr" sz="quarter" idx="11"/>
          </p:nvPr>
        </p:nvSpPr>
        <p:spPr/>
        <p:txBody>
          <a:bodyPr/>
          <a:lstStyle/>
          <a:p>
            <a:r>
              <a:rPr lang="en-US"/>
              <a:t>Frankfurt University Of Applied Sciences</a:t>
            </a:r>
          </a:p>
        </p:txBody>
      </p:sp>
      <p:sp>
        <p:nvSpPr>
          <p:cNvPr id="6" name="Slide Number Placeholder 5"/>
          <p:cNvSpPr>
            <a:spLocks noGrp="1"/>
          </p:cNvSpPr>
          <p:nvPr>
            <p:ph type="sldNum" sz="quarter" idx="12"/>
          </p:nvPr>
        </p:nvSpPr>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310674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0449D4-857B-4A8F-8D72-5BDFFC160B0E}" type="datetime1">
              <a:rPr lang="en-US" smtClean="0"/>
              <a:t>3/21/2025</a:t>
            </a:fld>
            <a:endParaRPr lang="en-US"/>
          </a:p>
        </p:txBody>
      </p:sp>
      <p:sp>
        <p:nvSpPr>
          <p:cNvPr id="5" name="Footer Placeholder 4"/>
          <p:cNvSpPr>
            <a:spLocks noGrp="1"/>
          </p:cNvSpPr>
          <p:nvPr>
            <p:ph type="ftr" sz="quarter" idx="11"/>
          </p:nvPr>
        </p:nvSpPr>
        <p:spPr/>
        <p:txBody>
          <a:bodyPr/>
          <a:lstStyle/>
          <a:p>
            <a:r>
              <a:rPr lang="en-US"/>
              <a:t>Frankfurt University Of Applied Sciences</a:t>
            </a:r>
          </a:p>
        </p:txBody>
      </p:sp>
      <p:sp>
        <p:nvSpPr>
          <p:cNvPr id="6" name="Slide Number Placeholder 5"/>
          <p:cNvSpPr>
            <a:spLocks noGrp="1"/>
          </p:cNvSpPr>
          <p:nvPr>
            <p:ph type="sldNum" sz="quarter" idx="12"/>
          </p:nvPr>
        </p:nvSpPr>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8652538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0C2CA-4B6D-6A0C-713D-A413800F43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91DC8F-E97D-C619-76E1-AD242CE66E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D564765-89D8-2952-B886-458A80EBC452}"/>
              </a:ext>
            </a:extLst>
          </p:cNvPr>
          <p:cNvSpPr>
            <a:spLocks noGrp="1"/>
          </p:cNvSpPr>
          <p:nvPr>
            <p:ph type="dt" sz="half" idx="10"/>
          </p:nvPr>
        </p:nvSpPr>
        <p:spPr/>
        <p:txBody>
          <a:bodyPr/>
          <a:lstStyle/>
          <a:p>
            <a:fld id="{AA002CAF-1BBC-455F-B0B3-E8BAD978521C}" type="datetimeFigureOut">
              <a:rPr lang="en-IN" smtClean="0"/>
              <a:t>21-03-2025</a:t>
            </a:fld>
            <a:endParaRPr lang="en-IN"/>
          </a:p>
        </p:txBody>
      </p:sp>
      <p:sp>
        <p:nvSpPr>
          <p:cNvPr id="5" name="Footer Placeholder 4">
            <a:extLst>
              <a:ext uri="{FF2B5EF4-FFF2-40B4-BE49-F238E27FC236}">
                <a16:creationId xmlns:a16="http://schemas.microsoft.com/office/drawing/2014/main" id="{7128B068-85FE-3276-2595-4152B05316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FC9D5A-C4BB-77B2-DFA6-1A8780C2D4CC}"/>
              </a:ext>
            </a:extLst>
          </p:cNvPr>
          <p:cNvSpPr>
            <a:spLocks noGrp="1"/>
          </p:cNvSpPr>
          <p:nvPr>
            <p:ph type="sldNum" sz="quarter" idx="12"/>
          </p:nvPr>
        </p:nvSpPr>
        <p:spPr/>
        <p:txBody>
          <a:bodyPr/>
          <a:lstStyle/>
          <a:p>
            <a:fld id="{2C090F89-862A-48CC-AB25-513D119CBB0A}" type="slidenum">
              <a:rPr lang="en-IN" smtClean="0"/>
              <a:t>‹#›</a:t>
            </a:fld>
            <a:endParaRPr lang="en-IN"/>
          </a:p>
        </p:txBody>
      </p:sp>
    </p:spTree>
    <p:extLst>
      <p:ext uri="{BB962C8B-B14F-4D97-AF65-F5344CB8AC3E}">
        <p14:creationId xmlns:p14="http://schemas.microsoft.com/office/powerpoint/2010/main" val="36333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1FFB5-4D66-4856-2B56-15845F166A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C7968D-FC48-43CD-C017-858DF18CEC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FC6CC2-C28C-8DD1-F952-2619166D4E4B}"/>
              </a:ext>
            </a:extLst>
          </p:cNvPr>
          <p:cNvSpPr>
            <a:spLocks noGrp="1"/>
          </p:cNvSpPr>
          <p:nvPr>
            <p:ph type="dt" sz="half" idx="10"/>
          </p:nvPr>
        </p:nvSpPr>
        <p:spPr/>
        <p:txBody>
          <a:bodyPr/>
          <a:lstStyle/>
          <a:p>
            <a:fld id="{AA002CAF-1BBC-455F-B0B3-E8BAD978521C}" type="datetimeFigureOut">
              <a:rPr lang="en-IN" smtClean="0"/>
              <a:t>21-03-2025</a:t>
            </a:fld>
            <a:endParaRPr lang="en-IN"/>
          </a:p>
        </p:txBody>
      </p:sp>
      <p:sp>
        <p:nvSpPr>
          <p:cNvPr id="5" name="Footer Placeholder 4">
            <a:extLst>
              <a:ext uri="{FF2B5EF4-FFF2-40B4-BE49-F238E27FC236}">
                <a16:creationId xmlns:a16="http://schemas.microsoft.com/office/drawing/2014/main" id="{AD2D3833-558B-79DA-BDDE-EFD52195E8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467288-0BED-6B59-97AD-F18DD27D8F93}"/>
              </a:ext>
            </a:extLst>
          </p:cNvPr>
          <p:cNvSpPr>
            <a:spLocks noGrp="1"/>
          </p:cNvSpPr>
          <p:nvPr>
            <p:ph type="sldNum" sz="quarter" idx="12"/>
          </p:nvPr>
        </p:nvSpPr>
        <p:spPr/>
        <p:txBody>
          <a:bodyPr/>
          <a:lstStyle/>
          <a:p>
            <a:fld id="{2C090F89-862A-48CC-AB25-513D119CBB0A}" type="slidenum">
              <a:rPr lang="en-IN" smtClean="0"/>
              <a:t>‹#›</a:t>
            </a:fld>
            <a:endParaRPr lang="en-IN"/>
          </a:p>
        </p:txBody>
      </p:sp>
    </p:spTree>
    <p:extLst>
      <p:ext uri="{BB962C8B-B14F-4D97-AF65-F5344CB8AC3E}">
        <p14:creationId xmlns:p14="http://schemas.microsoft.com/office/powerpoint/2010/main" val="30076866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1F8C3-A080-DF9E-1784-F78132BBAC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B5FA32F-4B29-8023-AD84-ACEA93BFE3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AFBA06-4582-D012-299F-812878228EE2}"/>
              </a:ext>
            </a:extLst>
          </p:cNvPr>
          <p:cNvSpPr>
            <a:spLocks noGrp="1"/>
          </p:cNvSpPr>
          <p:nvPr>
            <p:ph type="dt" sz="half" idx="10"/>
          </p:nvPr>
        </p:nvSpPr>
        <p:spPr/>
        <p:txBody>
          <a:bodyPr/>
          <a:lstStyle/>
          <a:p>
            <a:fld id="{AA002CAF-1BBC-455F-B0B3-E8BAD978521C}" type="datetimeFigureOut">
              <a:rPr lang="en-IN" smtClean="0"/>
              <a:t>21-03-2025</a:t>
            </a:fld>
            <a:endParaRPr lang="en-IN"/>
          </a:p>
        </p:txBody>
      </p:sp>
      <p:sp>
        <p:nvSpPr>
          <p:cNvPr id="5" name="Footer Placeholder 4">
            <a:extLst>
              <a:ext uri="{FF2B5EF4-FFF2-40B4-BE49-F238E27FC236}">
                <a16:creationId xmlns:a16="http://schemas.microsoft.com/office/drawing/2014/main" id="{869BFCC8-5666-9502-6105-43DCEDEF11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E4E504-6E20-470F-8415-9AD1797B9673}"/>
              </a:ext>
            </a:extLst>
          </p:cNvPr>
          <p:cNvSpPr>
            <a:spLocks noGrp="1"/>
          </p:cNvSpPr>
          <p:nvPr>
            <p:ph type="sldNum" sz="quarter" idx="12"/>
          </p:nvPr>
        </p:nvSpPr>
        <p:spPr/>
        <p:txBody>
          <a:bodyPr/>
          <a:lstStyle/>
          <a:p>
            <a:fld id="{2C090F89-862A-48CC-AB25-513D119CBB0A}" type="slidenum">
              <a:rPr lang="en-IN" smtClean="0"/>
              <a:t>‹#›</a:t>
            </a:fld>
            <a:endParaRPr lang="en-IN"/>
          </a:p>
        </p:txBody>
      </p:sp>
    </p:spTree>
    <p:extLst>
      <p:ext uri="{BB962C8B-B14F-4D97-AF65-F5344CB8AC3E}">
        <p14:creationId xmlns:p14="http://schemas.microsoft.com/office/powerpoint/2010/main" val="293856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EA93F-AA7A-A226-48C4-148F1F1C67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D502A0-AB33-FDCE-FB54-3979E06DC1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48BA90-4E16-7651-52F1-09F06AEDC4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7C760D-E18D-FF4D-F50C-A4B20A429840}"/>
              </a:ext>
            </a:extLst>
          </p:cNvPr>
          <p:cNvSpPr>
            <a:spLocks noGrp="1"/>
          </p:cNvSpPr>
          <p:nvPr>
            <p:ph type="dt" sz="half" idx="10"/>
          </p:nvPr>
        </p:nvSpPr>
        <p:spPr/>
        <p:txBody>
          <a:bodyPr/>
          <a:lstStyle/>
          <a:p>
            <a:fld id="{AA002CAF-1BBC-455F-B0B3-E8BAD978521C}" type="datetimeFigureOut">
              <a:rPr lang="en-IN" smtClean="0"/>
              <a:t>21-03-2025</a:t>
            </a:fld>
            <a:endParaRPr lang="en-IN"/>
          </a:p>
        </p:txBody>
      </p:sp>
      <p:sp>
        <p:nvSpPr>
          <p:cNvPr id="6" name="Footer Placeholder 5">
            <a:extLst>
              <a:ext uri="{FF2B5EF4-FFF2-40B4-BE49-F238E27FC236}">
                <a16:creationId xmlns:a16="http://schemas.microsoft.com/office/drawing/2014/main" id="{9153A9EF-0F22-25DA-F632-511400ED55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F5E837-4906-8888-0252-776464DFE3D5}"/>
              </a:ext>
            </a:extLst>
          </p:cNvPr>
          <p:cNvSpPr>
            <a:spLocks noGrp="1"/>
          </p:cNvSpPr>
          <p:nvPr>
            <p:ph type="sldNum" sz="quarter" idx="12"/>
          </p:nvPr>
        </p:nvSpPr>
        <p:spPr/>
        <p:txBody>
          <a:bodyPr/>
          <a:lstStyle/>
          <a:p>
            <a:fld id="{2C090F89-862A-48CC-AB25-513D119CBB0A}" type="slidenum">
              <a:rPr lang="en-IN" smtClean="0"/>
              <a:t>‹#›</a:t>
            </a:fld>
            <a:endParaRPr lang="en-IN"/>
          </a:p>
        </p:txBody>
      </p:sp>
    </p:spTree>
    <p:extLst>
      <p:ext uri="{BB962C8B-B14F-4D97-AF65-F5344CB8AC3E}">
        <p14:creationId xmlns:p14="http://schemas.microsoft.com/office/powerpoint/2010/main" val="34080556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A221B-EEFC-4C8B-B880-72820F1A99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6611CF-B03D-F2CF-2568-39FB3872FC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D51442-1830-7958-9E9C-AA36C36752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1B24E13-48D8-5974-29C3-46A99F271A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0C6787-0743-FDD6-2CA5-1F61F7370B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4DF034F-5B10-2F05-B4CA-0D766316C2F4}"/>
              </a:ext>
            </a:extLst>
          </p:cNvPr>
          <p:cNvSpPr>
            <a:spLocks noGrp="1"/>
          </p:cNvSpPr>
          <p:nvPr>
            <p:ph type="dt" sz="half" idx="10"/>
          </p:nvPr>
        </p:nvSpPr>
        <p:spPr/>
        <p:txBody>
          <a:bodyPr/>
          <a:lstStyle/>
          <a:p>
            <a:fld id="{AA002CAF-1BBC-455F-B0B3-E8BAD978521C}" type="datetimeFigureOut">
              <a:rPr lang="en-IN" smtClean="0"/>
              <a:t>21-03-2025</a:t>
            </a:fld>
            <a:endParaRPr lang="en-IN"/>
          </a:p>
        </p:txBody>
      </p:sp>
      <p:sp>
        <p:nvSpPr>
          <p:cNvPr id="8" name="Footer Placeholder 7">
            <a:extLst>
              <a:ext uri="{FF2B5EF4-FFF2-40B4-BE49-F238E27FC236}">
                <a16:creationId xmlns:a16="http://schemas.microsoft.com/office/drawing/2014/main" id="{08607B2A-9B7B-9041-E67D-26435811485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D3BA539-0FBC-5470-AC35-2CEA7A464F21}"/>
              </a:ext>
            </a:extLst>
          </p:cNvPr>
          <p:cNvSpPr>
            <a:spLocks noGrp="1"/>
          </p:cNvSpPr>
          <p:nvPr>
            <p:ph type="sldNum" sz="quarter" idx="12"/>
          </p:nvPr>
        </p:nvSpPr>
        <p:spPr/>
        <p:txBody>
          <a:bodyPr/>
          <a:lstStyle/>
          <a:p>
            <a:fld id="{2C090F89-862A-48CC-AB25-513D119CBB0A}" type="slidenum">
              <a:rPr lang="en-IN" smtClean="0"/>
              <a:t>‹#›</a:t>
            </a:fld>
            <a:endParaRPr lang="en-IN"/>
          </a:p>
        </p:txBody>
      </p:sp>
    </p:spTree>
    <p:extLst>
      <p:ext uri="{BB962C8B-B14F-4D97-AF65-F5344CB8AC3E}">
        <p14:creationId xmlns:p14="http://schemas.microsoft.com/office/powerpoint/2010/main" val="2590931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D10B5-B144-2667-9CAA-761F5C0501D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74CC83D-71F0-98D4-4945-4C8810627367}"/>
              </a:ext>
            </a:extLst>
          </p:cNvPr>
          <p:cNvSpPr>
            <a:spLocks noGrp="1"/>
          </p:cNvSpPr>
          <p:nvPr>
            <p:ph type="dt" sz="half" idx="10"/>
          </p:nvPr>
        </p:nvSpPr>
        <p:spPr/>
        <p:txBody>
          <a:bodyPr/>
          <a:lstStyle/>
          <a:p>
            <a:fld id="{AA002CAF-1BBC-455F-B0B3-E8BAD978521C}" type="datetimeFigureOut">
              <a:rPr lang="en-IN" smtClean="0"/>
              <a:t>21-03-2025</a:t>
            </a:fld>
            <a:endParaRPr lang="en-IN"/>
          </a:p>
        </p:txBody>
      </p:sp>
      <p:sp>
        <p:nvSpPr>
          <p:cNvPr id="4" name="Footer Placeholder 3">
            <a:extLst>
              <a:ext uri="{FF2B5EF4-FFF2-40B4-BE49-F238E27FC236}">
                <a16:creationId xmlns:a16="http://schemas.microsoft.com/office/drawing/2014/main" id="{4459D27E-757B-C02E-6F71-CC4B3030851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BDE838-6490-617F-249B-76EB0E166EF8}"/>
              </a:ext>
            </a:extLst>
          </p:cNvPr>
          <p:cNvSpPr>
            <a:spLocks noGrp="1"/>
          </p:cNvSpPr>
          <p:nvPr>
            <p:ph type="sldNum" sz="quarter" idx="12"/>
          </p:nvPr>
        </p:nvSpPr>
        <p:spPr/>
        <p:txBody>
          <a:bodyPr/>
          <a:lstStyle/>
          <a:p>
            <a:fld id="{2C090F89-862A-48CC-AB25-513D119CBB0A}" type="slidenum">
              <a:rPr lang="en-IN" smtClean="0"/>
              <a:t>‹#›</a:t>
            </a:fld>
            <a:endParaRPr lang="en-IN"/>
          </a:p>
        </p:txBody>
      </p:sp>
    </p:spTree>
    <p:extLst>
      <p:ext uri="{BB962C8B-B14F-4D97-AF65-F5344CB8AC3E}">
        <p14:creationId xmlns:p14="http://schemas.microsoft.com/office/powerpoint/2010/main" val="34683984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FF8A28-9ADD-F614-D2F3-299BBC73822D}"/>
              </a:ext>
            </a:extLst>
          </p:cNvPr>
          <p:cNvSpPr>
            <a:spLocks noGrp="1"/>
          </p:cNvSpPr>
          <p:nvPr>
            <p:ph type="dt" sz="half" idx="10"/>
          </p:nvPr>
        </p:nvSpPr>
        <p:spPr/>
        <p:txBody>
          <a:bodyPr/>
          <a:lstStyle/>
          <a:p>
            <a:fld id="{AA002CAF-1BBC-455F-B0B3-E8BAD978521C}" type="datetimeFigureOut">
              <a:rPr lang="en-IN" smtClean="0"/>
              <a:t>21-03-2025</a:t>
            </a:fld>
            <a:endParaRPr lang="en-IN"/>
          </a:p>
        </p:txBody>
      </p:sp>
      <p:sp>
        <p:nvSpPr>
          <p:cNvPr id="3" name="Footer Placeholder 2">
            <a:extLst>
              <a:ext uri="{FF2B5EF4-FFF2-40B4-BE49-F238E27FC236}">
                <a16:creationId xmlns:a16="http://schemas.microsoft.com/office/drawing/2014/main" id="{DC1A8EF6-3EF1-73E9-8B93-7B0CC671B1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AC0DE2-FFAE-5200-9D76-D60B5E42C778}"/>
              </a:ext>
            </a:extLst>
          </p:cNvPr>
          <p:cNvSpPr>
            <a:spLocks noGrp="1"/>
          </p:cNvSpPr>
          <p:nvPr>
            <p:ph type="sldNum" sz="quarter" idx="12"/>
          </p:nvPr>
        </p:nvSpPr>
        <p:spPr/>
        <p:txBody>
          <a:bodyPr/>
          <a:lstStyle/>
          <a:p>
            <a:fld id="{2C090F89-862A-48CC-AB25-513D119CBB0A}" type="slidenum">
              <a:rPr lang="en-IN" smtClean="0"/>
              <a:t>‹#›</a:t>
            </a:fld>
            <a:endParaRPr lang="en-IN"/>
          </a:p>
        </p:txBody>
      </p:sp>
    </p:spTree>
    <p:extLst>
      <p:ext uri="{BB962C8B-B14F-4D97-AF65-F5344CB8AC3E}">
        <p14:creationId xmlns:p14="http://schemas.microsoft.com/office/powerpoint/2010/main" val="3127598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3B326-8EF4-B4F8-75E5-ED8D8C563B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04D53FF-B549-D03C-9AF2-DCBEC016D6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705D2C-B8E4-58E4-E897-1963D0025A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B85D97-E150-5767-CF32-D82337A395AE}"/>
              </a:ext>
            </a:extLst>
          </p:cNvPr>
          <p:cNvSpPr>
            <a:spLocks noGrp="1"/>
          </p:cNvSpPr>
          <p:nvPr>
            <p:ph type="dt" sz="half" idx="10"/>
          </p:nvPr>
        </p:nvSpPr>
        <p:spPr/>
        <p:txBody>
          <a:bodyPr/>
          <a:lstStyle/>
          <a:p>
            <a:fld id="{AA002CAF-1BBC-455F-B0B3-E8BAD978521C}" type="datetimeFigureOut">
              <a:rPr lang="en-IN" smtClean="0"/>
              <a:t>21-03-2025</a:t>
            </a:fld>
            <a:endParaRPr lang="en-IN"/>
          </a:p>
        </p:txBody>
      </p:sp>
      <p:sp>
        <p:nvSpPr>
          <p:cNvPr id="6" name="Footer Placeholder 5">
            <a:extLst>
              <a:ext uri="{FF2B5EF4-FFF2-40B4-BE49-F238E27FC236}">
                <a16:creationId xmlns:a16="http://schemas.microsoft.com/office/drawing/2014/main" id="{EF5B2E19-CD69-5148-B6F7-5D87EA1D9B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D545C8-E05C-519F-3A34-640C1F314A66}"/>
              </a:ext>
            </a:extLst>
          </p:cNvPr>
          <p:cNvSpPr>
            <a:spLocks noGrp="1"/>
          </p:cNvSpPr>
          <p:nvPr>
            <p:ph type="sldNum" sz="quarter" idx="12"/>
          </p:nvPr>
        </p:nvSpPr>
        <p:spPr/>
        <p:txBody>
          <a:bodyPr/>
          <a:lstStyle/>
          <a:p>
            <a:fld id="{2C090F89-862A-48CC-AB25-513D119CBB0A}" type="slidenum">
              <a:rPr lang="en-IN" smtClean="0"/>
              <a:t>‹#›</a:t>
            </a:fld>
            <a:endParaRPr lang="en-IN"/>
          </a:p>
        </p:txBody>
      </p:sp>
    </p:spTree>
    <p:extLst>
      <p:ext uri="{BB962C8B-B14F-4D97-AF65-F5344CB8AC3E}">
        <p14:creationId xmlns:p14="http://schemas.microsoft.com/office/powerpoint/2010/main" val="36752813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271E5-8593-D92E-7185-1AA7C405CD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26E6299-40D4-285C-1534-7A9E41D129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49BA15C-4F33-F160-D01A-2119FE3A89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6523AA-9C00-C433-A0BC-F6244BA96A40}"/>
              </a:ext>
            </a:extLst>
          </p:cNvPr>
          <p:cNvSpPr>
            <a:spLocks noGrp="1"/>
          </p:cNvSpPr>
          <p:nvPr>
            <p:ph type="dt" sz="half" idx="10"/>
          </p:nvPr>
        </p:nvSpPr>
        <p:spPr/>
        <p:txBody>
          <a:bodyPr/>
          <a:lstStyle/>
          <a:p>
            <a:fld id="{AA002CAF-1BBC-455F-B0B3-E8BAD978521C}" type="datetimeFigureOut">
              <a:rPr lang="en-IN" smtClean="0"/>
              <a:t>21-03-2025</a:t>
            </a:fld>
            <a:endParaRPr lang="en-IN"/>
          </a:p>
        </p:txBody>
      </p:sp>
      <p:sp>
        <p:nvSpPr>
          <p:cNvPr id="6" name="Footer Placeholder 5">
            <a:extLst>
              <a:ext uri="{FF2B5EF4-FFF2-40B4-BE49-F238E27FC236}">
                <a16:creationId xmlns:a16="http://schemas.microsoft.com/office/drawing/2014/main" id="{E37F4F2A-6232-6A69-F844-E3C1D12421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298851-BD0B-CC25-45DE-E91BA0DCCCC4}"/>
              </a:ext>
            </a:extLst>
          </p:cNvPr>
          <p:cNvSpPr>
            <a:spLocks noGrp="1"/>
          </p:cNvSpPr>
          <p:nvPr>
            <p:ph type="sldNum" sz="quarter" idx="12"/>
          </p:nvPr>
        </p:nvSpPr>
        <p:spPr/>
        <p:txBody>
          <a:bodyPr/>
          <a:lstStyle/>
          <a:p>
            <a:fld id="{2C090F89-862A-48CC-AB25-513D119CBB0A}" type="slidenum">
              <a:rPr lang="en-IN" smtClean="0"/>
              <a:t>‹#›</a:t>
            </a:fld>
            <a:endParaRPr lang="en-IN"/>
          </a:p>
        </p:txBody>
      </p:sp>
    </p:spTree>
    <p:extLst>
      <p:ext uri="{BB962C8B-B14F-4D97-AF65-F5344CB8AC3E}">
        <p14:creationId xmlns:p14="http://schemas.microsoft.com/office/powerpoint/2010/main" val="8547743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A45D3-A8E4-A314-F0EB-196EBF66146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299244-73CD-1325-21B6-0B85386B4D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10B09D-47A0-E8DB-158D-C1384F1A2DE2}"/>
              </a:ext>
            </a:extLst>
          </p:cNvPr>
          <p:cNvSpPr>
            <a:spLocks noGrp="1"/>
          </p:cNvSpPr>
          <p:nvPr>
            <p:ph type="dt" sz="half" idx="10"/>
          </p:nvPr>
        </p:nvSpPr>
        <p:spPr/>
        <p:txBody>
          <a:bodyPr/>
          <a:lstStyle/>
          <a:p>
            <a:fld id="{AA002CAF-1BBC-455F-B0B3-E8BAD978521C}" type="datetimeFigureOut">
              <a:rPr lang="en-IN" smtClean="0"/>
              <a:t>21-03-2025</a:t>
            </a:fld>
            <a:endParaRPr lang="en-IN"/>
          </a:p>
        </p:txBody>
      </p:sp>
      <p:sp>
        <p:nvSpPr>
          <p:cNvPr id="5" name="Footer Placeholder 4">
            <a:extLst>
              <a:ext uri="{FF2B5EF4-FFF2-40B4-BE49-F238E27FC236}">
                <a16:creationId xmlns:a16="http://schemas.microsoft.com/office/drawing/2014/main" id="{019E18E0-ECBF-BE6E-673B-D9C9B51E2D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DE7B60-1D31-FCA7-D15B-EA939FF4FEC2}"/>
              </a:ext>
            </a:extLst>
          </p:cNvPr>
          <p:cNvSpPr>
            <a:spLocks noGrp="1"/>
          </p:cNvSpPr>
          <p:nvPr>
            <p:ph type="sldNum" sz="quarter" idx="12"/>
          </p:nvPr>
        </p:nvSpPr>
        <p:spPr/>
        <p:txBody>
          <a:bodyPr/>
          <a:lstStyle/>
          <a:p>
            <a:fld id="{2C090F89-862A-48CC-AB25-513D119CBB0A}" type="slidenum">
              <a:rPr lang="en-IN" smtClean="0"/>
              <a:t>‹#›</a:t>
            </a:fld>
            <a:endParaRPr lang="en-IN"/>
          </a:p>
        </p:txBody>
      </p:sp>
    </p:spTree>
    <p:extLst>
      <p:ext uri="{BB962C8B-B14F-4D97-AF65-F5344CB8AC3E}">
        <p14:creationId xmlns:p14="http://schemas.microsoft.com/office/powerpoint/2010/main" val="26498902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280F40-8A8C-8B23-2788-6322A1FF58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FC50EB-97B9-559E-32B1-E8C561B61C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0A17DF-24E3-2739-4315-ED70652FDF34}"/>
              </a:ext>
            </a:extLst>
          </p:cNvPr>
          <p:cNvSpPr>
            <a:spLocks noGrp="1"/>
          </p:cNvSpPr>
          <p:nvPr>
            <p:ph type="dt" sz="half" idx="10"/>
          </p:nvPr>
        </p:nvSpPr>
        <p:spPr/>
        <p:txBody>
          <a:bodyPr/>
          <a:lstStyle/>
          <a:p>
            <a:fld id="{AA002CAF-1BBC-455F-B0B3-E8BAD978521C}" type="datetimeFigureOut">
              <a:rPr lang="en-IN" smtClean="0"/>
              <a:t>21-03-2025</a:t>
            </a:fld>
            <a:endParaRPr lang="en-IN"/>
          </a:p>
        </p:txBody>
      </p:sp>
      <p:sp>
        <p:nvSpPr>
          <p:cNvPr id="5" name="Footer Placeholder 4">
            <a:extLst>
              <a:ext uri="{FF2B5EF4-FFF2-40B4-BE49-F238E27FC236}">
                <a16:creationId xmlns:a16="http://schemas.microsoft.com/office/drawing/2014/main" id="{CEF3F84F-BCE4-24F7-50D8-D10C887A40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85B07B-54E5-7E3C-BD17-68A96D654736}"/>
              </a:ext>
            </a:extLst>
          </p:cNvPr>
          <p:cNvSpPr>
            <a:spLocks noGrp="1"/>
          </p:cNvSpPr>
          <p:nvPr>
            <p:ph type="sldNum" sz="quarter" idx="12"/>
          </p:nvPr>
        </p:nvSpPr>
        <p:spPr/>
        <p:txBody>
          <a:bodyPr/>
          <a:lstStyle/>
          <a:p>
            <a:fld id="{2C090F89-862A-48CC-AB25-513D119CBB0A}" type="slidenum">
              <a:rPr lang="en-IN" smtClean="0"/>
              <a:t>‹#›</a:t>
            </a:fld>
            <a:endParaRPr lang="en-IN"/>
          </a:p>
        </p:txBody>
      </p:sp>
    </p:spTree>
    <p:extLst>
      <p:ext uri="{BB962C8B-B14F-4D97-AF65-F5344CB8AC3E}">
        <p14:creationId xmlns:p14="http://schemas.microsoft.com/office/powerpoint/2010/main" val="3640995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3012FEC-BBA2-4E51-9C78-54DC99E4E4FC}" type="datetime1">
              <a:rPr lang="en-US" smtClean="0"/>
              <a:t>3/21/2025</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r>
              <a:rPr lang="en-US"/>
              <a:t>Frankfurt University Of Applied Sciences</a:t>
            </a:r>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3794418986"/>
      </p:ext>
    </p:extLst>
  </p:cSld>
  <p:clrMap bg1="dk1" tx1="lt1" bg2="dk2"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Lst>
  <p:hf sldNum="0" hd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2F9AF1-3677-F371-375C-2DC6EF9668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FA845A-9661-893F-CAC5-70ED179361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A2FB49-C8F0-00FD-005B-E84C7CA81A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02CAF-1BBC-455F-B0B3-E8BAD978521C}" type="datetimeFigureOut">
              <a:rPr lang="en-IN" smtClean="0"/>
              <a:t>21-03-2025</a:t>
            </a:fld>
            <a:endParaRPr lang="en-IN"/>
          </a:p>
        </p:txBody>
      </p:sp>
      <p:sp>
        <p:nvSpPr>
          <p:cNvPr id="5" name="Footer Placeholder 4">
            <a:extLst>
              <a:ext uri="{FF2B5EF4-FFF2-40B4-BE49-F238E27FC236}">
                <a16:creationId xmlns:a16="http://schemas.microsoft.com/office/drawing/2014/main" id="{52911820-7B5A-CE71-A32C-EF97F1336B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1FF2EE3-1845-6FC3-0A05-4BDA082929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090F89-862A-48CC-AB25-513D119CBB0A}" type="slidenum">
              <a:rPr lang="en-IN" smtClean="0"/>
              <a:t>‹#›</a:t>
            </a:fld>
            <a:endParaRPr lang="en-IN"/>
          </a:p>
        </p:txBody>
      </p:sp>
    </p:spTree>
    <p:extLst>
      <p:ext uri="{BB962C8B-B14F-4D97-AF65-F5344CB8AC3E}">
        <p14:creationId xmlns:p14="http://schemas.microsoft.com/office/powerpoint/2010/main" val="4197375567"/>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0" name="Straight Connector 9">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4" name="Picture 3" descr="Computer Generated Lights">
            <a:extLst>
              <a:ext uri="{FF2B5EF4-FFF2-40B4-BE49-F238E27FC236}">
                <a16:creationId xmlns:a16="http://schemas.microsoft.com/office/drawing/2014/main" id="{26D95B4D-8115-9915-935F-AD056899AB4E}"/>
              </a:ext>
            </a:extLst>
          </p:cNvPr>
          <p:cNvPicPr>
            <a:picLocks noChangeAspect="1"/>
          </p:cNvPicPr>
          <p:nvPr/>
        </p:nvPicPr>
        <p:blipFill rotWithShape="1">
          <a:blip r:embed="rId2">
            <a:grayscl/>
          </a:blip>
          <a:srcRect t="11385" b="12601"/>
          <a:stretch/>
        </p:blipFill>
        <p:spPr>
          <a:xfrm>
            <a:off x="-12700" y="10"/>
            <a:ext cx="12192000" cy="6857990"/>
          </a:xfrm>
          <a:prstGeom prst="rect">
            <a:avLst/>
          </a:prstGeom>
        </p:spPr>
      </p:pic>
      <p:sp>
        <p:nvSpPr>
          <p:cNvPr id="16" name="Rectangle 15">
            <a:extLst>
              <a:ext uri="{FF2B5EF4-FFF2-40B4-BE49-F238E27FC236}">
                <a16:creationId xmlns:a16="http://schemas.microsoft.com/office/drawing/2014/main" id="{8735A508-2662-409F-B5A3-AEA22CE92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nip Single Corner Rectangle 17">
            <a:extLst>
              <a:ext uri="{FF2B5EF4-FFF2-40B4-BE49-F238E27FC236}">
                <a16:creationId xmlns:a16="http://schemas.microsoft.com/office/drawing/2014/main" id="{CB8B592B-E5AA-4055-8CB3-6AEDB35AD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38352"/>
            </a:avLst>
          </a:prstGeom>
          <a:gradFill>
            <a:gsLst>
              <a:gs pos="10000">
                <a:schemeClr val="dk2">
                  <a:tint val="97000"/>
                  <a:hueMod val="92000"/>
                  <a:satMod val="169000"/>
                  <a:lumMod val="164000"/>
                  <a:alpha val="70000"/>
                </a:schemeClr>
              </a:gs>
              <a:gs pos="100000">
                <a:schemeClr val="dk2">
                  <a:shade val="96000"/>
                  <a:satMod val="120000"/>
                  <a:lumMod val="90000"/>
                  <a:alpha val="80000"/>
                </a:schemeClr>
              </a:gs>
            </a:gsLst>
          </a:gradFill>
          <a:ln>
            <a:noFill/>
          </a:ln>
          <a:effectLst/>
        </p:spPr>
        <p:style>
          <a:lnRef idx="2">
            <a:schemeClr val="accent1">
              <a:shade val="50000"/>
            </a:schemeClr>
          </a:lnRef>
          <a:fillRef idx="1002">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579E48D-38F5-7CDB-E954-8C3B0B1D251E}"/>
              </a:ext>
            </a:extLst>
          </p:cNvPr>
          <p:cNvSpPr>
            <a:spLocks noGrp="1"/>
          </p:cNvSpPr>
          <p:nvPr>
            <p:ph type="ctrTitle"/>
          </p:nvPr>
        </p:nvSpPr>
        <p:spPr>
          <a:xfrm>
            <a:off x="684212" y="4487332"/>
            <a:ext cx="8534400" cy="1507067"/>
          </a:xfrm>
        </p:spPr>
        <p:txBody>
          <a:bodyPr vert="horz" lIns="91440" tIns="45720" rIns="91440" bIns="45720" rtlCol="0" anchor="ctr" anchorCtr="0">
            <a:normAutofit/>
          </a:bodyPr>
          <a:lstStyle/>
          <a:p>
            <a:pPr>
              <a:lnSpc>
                <a:spcPct val="90000"/>
              </a:lnSpc>
            </a:pPr>
            <a:r>
              <a:rPr lang="en-US" sz="3300" b="1"/>
              <a:t>ML 24/25-01 Investigate Image Reconstruction By using Classifier</a:t>
            </a:r>
            <a:br>
              <a:rPr lang="en-US" sz="3300" b="1"/>
            </a:br>
            <a:endParaRPr lang="en-US" sz="3300" b="1"/>
          </a:p>
        </p:txBody>
      </p:sp>
      <p:sp>
        <p:nvSpPr>
          <p:cNvPr id="3" name="Subtitle 2">
            <a:extLst>
              <a:ext uri="{FF2B5EF4-FFF2-40B4-BE49-F238E27FC236}">
                <a16:creationId xmlns:a16="http://schemas.microsoft.com/office/drawing/2014/main" id="{5F0E73CE-F0E4-AD85-11CB-416C7310E4DF}"/>
              </a:ext>
            </a:extLst>
          </p:cNvPr>
          <p:cNvSpPr>
            <a:spLocks noGrp="1"/>
          </p:cNvSpPr>
          <p:nvPr>
            <p:ph type="subTitle" idx="1"/>
          </p:nvPr>
        </p:nvSpPr>
        <p:spPr>
          <a:xfrm>
            <a:off x="684212" y="685800"/>
            <a:ext cx="8534400" cy="3615267"/>
          </a:xfrm>
        </p:spPr>
        <p:txBody>
          <a:bodyPr vert="horz" lIns="91440" tIns="45720" rIns="91440" bIns="45720" rtlCol="0" anchor="ctr" anchorCtr="0">
            <a:normAutofit/>
          </a:bodyPr>
          <a:lstStyle/>
          <a:p>
            <a:pPr indent="-228600">
              <a:buFont typeface="Wingdings 3" panose="05040102010807070707" pitchFamily="18" charset="2"/>
              <a:buChar char=""/>
            </a:pPr>
            <a:r>
              <a:rPr lang="en-US" b="1" i="0" dirty="0">
                <a:solidFill>
                  <a:schemeClr val="tx1"/>
                </a:solidFill>
              </a:rPr>
              <a:t>Team: </a:t>
            </a:r>
            <a:r>
              <a:rPr lang="en-US" b="1" dirty="0" err="1">
                <a:solidFill>
                  <a:schemeClr val="tx1"/>
                </a:solidFill>
              </a:rPr>
              <a:t>Binge_Coders</a:t>
            </a:r>
            <a:endParaRPr lang="en-US" b="1" i="0" dirty="0">
              <a:solidFill>
                <a:schemeClr val="tx1"/>
              </a:solidFill>
            </a:endParaRPr>
          </a:p>
          <a:p>
            <a:pPr marL="342900" indent="-228600">
              <a:buFont typeface="Wingdings 3" panose="05040102010807070707" pitchFamily="18" charset="2"/>
              <a:buChar char=""/>
            </a:pPr>
            <a:r>
              <a:rPr lang="en-US" b="1" i="0" dirty="0">
                <a:solidFill>
                  <a:schemeClr val="tx1"/>
                </a:solidFill>
              </a:rPr>
              <a:t>Rajan Singh</a:t>
            </a:r>
          </a:p>
          <a:p>
            <a:pPr marL="342900" indent="-228600">
              <a:buFont typeface="Wingdings 3" panose="05040102010807070707" pitchFamily="18" charset="2"/>
              <a:buChar char=""/>
            </a:pPr>
            <a:r>
              <a:rPr lang="en-US" b="1" i="0" dirty="0">
                <a:solidFill>
                  <a:schemeClr val="tx1"/>
                </a:solidFill>
              </a:rPr>
              <a:t>Pradeep Tiwari</a:t>
            </a:r>
          </a:p>
          <a:p>
            <a:pPr marL="342900" indent="-228600">
              <a:buFont typeface="Wingdings 3" panose="05040102010807070707" pitchFamily="18" charset="2"/>
              <a:buChar char=""/>
            </a:pPr>
            <a:r>
              <a:rPr lang="en-US" b="1" i="0" dirty="0">
                <a:solidFill>
                  <a:schemeClr val="tx1"/>
                </a:solidFill>
              </a:rPr>
              <a:t>Mausam Bhunia</a:t>
            </a:r>
          </a:p>
        </p:txBody>
      </p:sp>
      <p:grpSp>
        <p:nvGrpSpPr>
          <p:cNvPr id="20" name="Group 19">
            <a:extLst>
              <a:ext uri="{FF2B5EF4-FFF2-40B4-BE49-F238E27FC236}">
                <a16:creationId xmlns:a16="http://schemas.microsoft.com/office/drawing/2014/main" id="{6E8443E6-406A-4E9D-BBDF-18D82C7E57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97444" y="2963333"/>
            <a:ext cx="2981858" cy="3208867"/>
            <a:chOff x="9206969" y="2963333"/>
            <a:chExt cx="2981858" cy="3208867"/>
          </a:xfrm>
        </p:grpSpPr>
        <p:cxnSp>
          <p:nvCxnSpPr>
            <p:cNvPr id="21" name="Straight Connector 20">
              <a:extLst>
                <a:ext uri="{FF2B5EF4-FFF2-40B4-BE49-F238E27FC236}">
                  <a16:creationId xmlns:a16="http://schemas.microsoft.com/office/drawing/2014/main" id="{31BA182A-2104-4C55-A000-6A17CB398C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E7FCCA59-6939-4760-9F82-2FC2E686F5B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FB56C56-4387-44BD-B03A-5191625A5E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2F6CE9C-E697-4BCF-9715-53021444C4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5D51363-57A9-46E1-8441-64EAF401C3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5" name="Footer Placeholder 4">
            <a:extLst>
              <a:ext uri="{FF2B5EF4-FFF2-40B4-BE49-F238E27FC236}">
                <a16:creationId xmlns:a16="http://schemas.microsoft.com/office/drawing/2014/main" id="{3A8C0381-6EAD-5C78-4534-BA596E4FF0DB}"/>
              </a:ext>
            </a:extLst>
          </p:cNvPr>
          <p:cNvSpPr>
            <a:spLocks noGrp="1"/>
          </p:cNvSpPr>
          <p:nvPr>
            <p:ph type="ftr" sz="quarter" idx="11"/>
          </p:nvPr>
        </p:nvSpPr>
        <p:spPr/>
        <p:txBody>
          <a:bodyPr/>
          <a:lstStyle/>
          <a:p>
            <a:r>
              <a:rPr lang="en-US" sz="1800" dirty="0">
                <a:solidFill>
                  <a:schemeClr val="tx1"/>
                </a:solidFill>
              </a:rPr>
              <a:t>Frankfurt University Of Applied Sciences</a:t>
            </a:r>
          </a:p>
        </p:txBody>
      </p:sp>
      <p:pic>
        <p:nvPicPr>
          <p:cNvPr id="7" name="Picture 6">
            <a:extLst>
              <a:ext uri="{FF2B5EF4-FFF2-40B4-BE49-F238E27FC236}">
                <a16:creationId xmlns:a16="http://schemas.microsoft.com/office/drawing/2014/main" id="{A2006A0B-03D1-6B5E-E2E2-3F1590DCDCA9}"/>
              </a:ext>
            </a:extLst>
          </p:cNvPr>
          <p:cNvPicPr preferRelativeResize="0">
            <a:picLocks/>
          </p:cNvPicPr>
          <p:nvPr/>
        </p:nvPicPr>
        <p:blipFill>
          <a:blip r:embed="rId3">
            <a:extLst>
              <a:ext uri="{28A0092B-C50C-407E-A947-70E740481C1C}">
                <a14:useLocalDpi xmlns:a14="http://schemas.microsoft.com/office/drawing/2010/main" val="0"/>
              </a:ext>
            </a:extLst>
          </a:blip>
          <a:stretch>
            <a:fillRect/>
          </a:stretch>
        </p:blipFill>
        <p:spPr>
          <a:xfrm>
            <a:off x="9789584" y="0"/>
            <a:ext cx="2399241" cy="2000250"/>
          </a:xfrm>
          <a:prstGeom prst="rect">
            <a:avLst/>
          </a:prstGeom>
        </p:spPr>
      </p:pic>
    </p:spTree>
    <p:extLst>
      <p:ext uri="{BB962C8B-B14F-4D97-AF65-F5344CB8AC3E}">
        <p14:creationId xmlns:p14="http://schemas.microsoft.com/office/powerpoint/2010/main" val="3759634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3C553-DA83-98EA-23B7-A9C2C3D587D3}"/>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Introduction</a:t>
            </a:r>
          </a:p>
        </p:txBody>
      </p:sp>
      <p:graphicFrame>
        <p:nvGraphicFramePr>
          <p:cNvPr id="5" name="Content Placeholder 2">
            <a:extLst>
              <a:ext uri="{FF2B5EF4-FFF2-40B4-BE49-F238E27FC236}">
                <a16:creationId xmlns:a16="http://schemas.microsoft.com/office/drawing/2014/main" id="{7C91FBC9-102F-83F3-4723-968813094D47}"/>
              </a:ext>
            </a:extLst>
          </p:cNvPr>
          <p:cNvGraphicFramePr>
            <a:graphicFrameLocks noGrp="1"/>
          </p:cNvGraphicFramePr>
          <p:nvPr>
            <p:ph idx="1"/>
            <p:extLst>
              <p:ext uri="{D42A27DB-BD31-4B8C-83A1-F6EECF244321}">
                <p14:modId xmlns:p14="http://schemas.microsoft.com/office/powerpoint/2010/main" val="526834723"/>
              </p:ext>
            </p:extLst>
          </p:nvPr>
        </p:nvGraphicFramePr>
        <p:xfrm>
          <a:off x="447413" y="1757317"/>
          <a:ext cx="10731865" cy="427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20CDF7D8-E489-546D-140A-F5256D0941EC}"/>
              </a:ext>
            </a:extLst>
          </p:cNvPr>
          <p:cNvSpPr>
            <a:spLocks noGrp="1"/>
          </p:cNvSpPr>
          <p:nvPr>
            <p:ph type="ftr" sz="quarter" idx="11"/>
          </p:nvPr>
        </p:nvSpPr>
        <p:spPr/>
        <p:txBody>
          <a:bodyPr/>
          <a:lstStyle/>
          <a:p>
            <a:r>
              <a:rPr lang="en-US" b="1" dirty="0"/>
              <a:t>Frankfurt University Of Applied Sciences</a:t>
            </a:r>
          </a:p>
        </p:txBody>
      </p:sp>
    </p:spTree>
    <p:extLst>
      <p:ext uri="{BB962C8B-B14F-4D97-AF65-F5344CB8AC3E}">
        <p14:creationId xmlns:p14="http://schemas.microsoft.com/office/powerpoint/2010/main" val="1907995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509B08A-C1EC-478C-86AF-60ADE06D9B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31CA65-BB7E-ED75-1305-7F9A342DF38A}"/>
              </a:ext>
            </a:extLst>
          </p:cNvPr>
          <p:cNvSpPr>
            <a:spLocks noGrp="1"/>
          </p:cNvSpPr>
          <p:nvPr>
            <p:ph type="title"/>
          </p:nvPr>
        </p:nvSpPr>
        <p:spPr>
          <a:xfrm>
            <a:off x="640290" y="685800"/>
            <a:ext cx="4818656" cy="4603749"/>
          </a:xfrm>
        </p:spPr>
        <p:txBody>
          <a:bodyPr>
            <a:normAutofit/>
          </a:bodyPr>
          <a:lstStyle/>
          <a:p>
            <a:pPr algn="r"/>
            <a:r>
              <a:rPr lang="en-US" sz="5200" b="1" dirty="0">
                <a:latin typeface="Nato"/>
              </a:rPr>
              <a:t>Objective</a:t>
            </a:r>
          </a:p>
        </p:txBody>
      </p:sp>
      <p:sp>
        <p:nvSpPr>
          <p:cNvPr id="22" name="Rectangle 21">
            <a:extLst>
              <a:ext uri="{FF2B5EF4-FFF2-40B4-BE49-F238E27FC236}">
                <a16:creationId xmlns:a16="http://schemas.microsoft.com/office/drawing/2014/main" id="{221CC330-4259-4C32-BF8B-5FE13FFABB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0"/>
            <a:ext cx="6096001" cy="6858000"/>
          </a:xfrm>
          <a:prstGeom prst="rect">
            <a:avLst/>
          </a:prstGeom>
          <a:solidFill>
            <a:schemeClr val="bg2">
              <a:alpha val="97000"/>
            </a:schemeClr>
          </a:solidFill>
          <a:ln>
            <a:noFill/>
          </a:ln>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1894995-E4A8-3E70-89C8-157BC6A8AD91}"/>
              </a:ext>
            </a:extLst>
          </p:cNvPr>
          <p:cNvSpPr>
            <a:spLocks noGrp="1"/>
          </p:cNvSpPr>
          <p:nvPr>
            <p:ph idx="1"/>
          </p:nvPr>
        </p:nvSpPr>
        <p:spPr>
          <a:xfrm>
            <a:off x="6625651" y="685800"/>
            <a:ext cx="4878959" cy="4603750"/>
          </a:xfrm>
        </p:spPr>
        <p:txBody>
          <a:bodyPr>
            <a:noAutofit/>
          </a:bodyPr>
          <a:lstStyle/>
          <a:p>
            <a:pPr>
              <a:lnSpc>
                <a:spcPct val="90000"/>
              </a:lnSpc>
              <a:buNone/>
            </a:pPr>
            <a:r>
              <a:rPr lang="en-US" dirty="0">
                <a:solidFill>
                  <a:schemeClr val="bg1"/>
                </a:solidFill>
              </a:rPr>
              <a:t>The objective of this study is to reconstruct images using </a:t>
            </a:r>
            <a:r>
              <a:rPr lang="en-US" b="1" dirty="0">
                <a:solidFill>
                  <a:schemeClr val="bg1"/>
                </a:solidFill>
              </a:rPr>
              <a:t>Hierarchical Temporal Memory (HTM) networks</a:t>
            </a:r>
            <a:r>
              <a:rPr lang="en-US" dirty="0">
                <a:solidFill>
                  <a:schemeClr val="bg1"/>
                </a:solidFill>
              </a:rPr>
              <a:t> and </a:t>
            </a:r>
            <a:r>
              <a:rPr lang="en-US" b="1" dirty="0">
                <a:solidFill>
                  <a:schemeClr val="bg1"/>
                </a:solidFill>
              </a:rPr>
              <a:t>K-Nearest Neighbors (KNN)</a:t>
            </a:r>
            <a:r>
              <a:rPr lang="en-US" dirty="0">
                <a:solidFill>
                  <a:schemeClr val="bg1"/>
                </a:solidFill>
              </a:rPr>
              <a:t> through the </a:t>
            </a:r>
            <a:r>
              <a:rPr lang="en-US" b="1" dirty="0" err="1">
                <a:solidFill>
                  <a:schemeClr val="bg1"/>
                </a:solidFill>
              </a:rPr>
              <a:t>NeoCortex</a:t>
            </a:r>
            <a:r>
              <a:rPr lang="en-US" b="1" dirty="0">
                <a:solidFill>
                  <a:schemeClr val="bg1"/>
                </a:solidFill>
              </a:rPr>
              <a:t> API's Reconstruct method</a:t>
            </a:r>
            <a:r>
              <a:rPr lang="en-US" dirty="0">
                <a:solidFill>
                  <a:schemeClr val="bg1"/>
                </a:solidFill>
              </a:rPr>
              <a:t>. Specifically, the study aims to:</a:t>
            </a:r>
          </a:p>
          <a:p>
            <a:pPr>
              <a:lnSpc>
                <a:spcPct val="90000"/>
              </a:lnSpc>
              <a:buNone/>
            </a:pPr>
            <a:endParaRPr lang="en-US" dirty="0">
              <a:solidFill>
                <a:schemeClr val="bg1"/>
              </a:solidFill>
            </a:endParaRPr>
          </a:p>
          <a:p>
            <a:pPr>
              <a:lnSpc>
                <a:spcPct val="90000"/>
              </a:lnSpc>
              <a:buFont typeface="Arial" panose="020B0604020202020204" pitchFamily="34" charset="0"/>
              <a:buChar char="•"/>
            </a:pPr>
            <a:r>
              <a:rPr lang="en-US" b="1" dirty="0">
                <a:solidFill>
                  <a:schemeClr val="bg1"/>
                </a:solidFill>
              </a:rPr>
              <a:t>Reconstruction Method in </a:t>
            </a:r>
            <a:r>
              <a:rPr lang="en-US" b="1" dirty="0" err="1">
                <a:solidFill>
                  <a:schemeClr val="bg1"/>
                </a:solidFill>
              </a:rPr>
              <a:t>NeoCortex</a:t>
            </a:r>
            <a:r>
              <a:rPr lang="en-US" b="1" dirty="0">
                <a:solidFill>
                  <a:schemeClr val="bg1"/>
                </a:solidFill>
              </a:rPr>
              <a:t> API</a:t>
            </a:r>
            <a:endParaRPr lang="en-US" dirty="0">
              <a:solidFill>
                <a:schemeClr val="bg1"/>
              </a:solidFill>
            </a:endParaRPr>
          </a:p>
          <a:p>
            <a:pPr>
              <a:lnSpc>
                <a:spcPct val="90000"/>
              </a:lnSpc>
              <a:buFont typeface="Arial" panose="020B0604020202020204" pitchFamily="34" charset="0"/>
              <a:buChar char="•"/>
            </a:pPr>
            <a:r>
              <a:rPr lang="en-US" b="1" dirty="0">
                <a:solidFill>
                  <a:schemeClr val="bg1"/>
                </a:solidFill>
              </a:rPr>
              <a:t>Perform Image Binarization for Preprocessing</a:t>
            </a:r>
            <a:endParaRPr lang="en-US" dirty="0">
              <a:solidFill>
                <a:schemeClr val="bg1"/>
              </a:solidFill>
            </a:endParaRPr>
          </a:p>
          <a:p>
            <a:pPr>
              <a:lnSpc>
                <a:spcPct val="90000"/>
              </a:lnSpc>
              <a:buFont typeface="Arial" panose="020B0604020202020204" pitchFamily="34" charset="0"/>
              <a:buChar char="•"/>
            </a:pPr>
            <a:r>
              <a:rPr lang="en-US" b="1" dirty="0">
                <a:solidFill>
                  <a:schemeClr val="bg1"/>
                </a:solidFill>
              </a:rPr>
              <a:t>Execute the Reconstruction Process using HTM and KNN</a:t>
            </a:r>
            <a:endParaRPr lang="en-US" dirty="0">
              <a:solidFill>
                <a:schemeClr val="bg1"/>
              </a:solidFill>
            </a:endParaRPr>
          </a:p>
          <a:p>
            <a:pPr>
              <a:lnSpc>
                <a:spcPct val="90000"/>
              </a:lnSpc>
              <a:buFont typeface="Arial" panose="020B0604020202020204" pitchFamily="34" charset="0"/>
              <a:buChar char="•"/>
            </a:pPr>
            <a:r>
              <a:rPr lang="en-US" b="1" dirty="0">
                <a:solidFill>
                  <a:schemeClr val="bg1"/>
                </a:solidFill>
              </a:rPr>
              <a:t>Evaluate Reconstruction Accuracy by Measuring Similarity Between Original and Reconstructed Inputs</a:t>
            </a:r>
            <a:endParaRPr lang="en-US" dirty="0">
              <a:solidFill>
                <a:schemeClr val="bg1"/>
              </a:solidFill>
            </a:endParaRPr>
          </a:p>
        </p:txBody>
      </p:sp>
      <p:sp>
        <p:nvSpPr>
          <p:cNvPr id="4" name="Footer Placeholder 3">
            <a:extLst>
              <a:ext uri="{FF2B5EF4-FFF2-40B4-BE49-F238E27FC236}">
                <a16:creationId xmlns:a16="http://schemas.microsoft.com/office/drawing/2014/main" id="{1DFA6D97-B85A-12E8-4411-AEEB2AAC8853}"/>
              </a:ext>
            </a:extLst>
          </p:cNvPr>
          <p:cNvSpPr>
            <a:spLocks noGrp="1"/>
          </p:cNvSpPr>
          <p:nvPr>
            <p:ph type="ftr" sz="quarter" idx="11"/>
          </p:nvPr>
        </p:nvSpPr>
        <p:spPr/>
        <p:txBody>
          <a:bodyPr/>
          <a:lstStyle/>
          <a:p>
            <a:r>
              <a:rPr lang="en-US" b="1" dirty="0"/>
              <a:t>Frankfurt University Of Applied Sciences</a:t>
            </a:r>
          </a:p>
        </p:txBody>
      </p:sp>
    </p:spTree>
    <p:extLst>
      <p:ext uri="{BB962C8B-B14F-4D97-AF65-F5344CB8AC3E}">
        <p14:creationId xmlns:p14="http://schemas.microsoft.com/office/powerpoint/2010/main" val="1909564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0" name="Straight Connector 9">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16" name="Rectangle 15">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p view of cubes connected with black lines">
            <a:extLst>
              <a:ext uri="{FF2B5EF4-FFF2-40B4-BE49-F238E27FC236}">
                <a16:creationId xmlns:a16="http://schemas.microsoft.com/office/drawing/2014/main" id="{F5327D53-7CE3-C8E7-9B62-B78E1586C713}"/>
              </a:ext>
            </a:extLst>
          </p:cNvPr>
          <p:cNvPicPr>
            <a:picLocks noChangeAspect="1"/>
          </p:cNvPicPr>
          <p:nvPr/>
        </p:nvPicPr>
        <p:blipFill>
          <a:blip r:embed="rId2"/>
          <a:srcRect l="35812" r="25890"/>
          <a:stretch/>
        </p:blipFill>
        <p:spPr>
          <a:xfrm>
            <a:off x="831" y="10"/>
            <a:ext cx="3502025" cy="6857990"/>
          </a:xfrm>
          <a:prstGeom prst="rect">
            <a:avLst/>
          </a:prstGeom>
          <a:effectLst>
            <a:innerShdw blurRad="57150" dist="38100" dir="14460000">
              <a:prstClr val="black">
                <a:alpha val="70000"/>
              </a:prstClr>
            </a:innerShdw>
          </a:effectLst>
        </p:spPr>
      </p:pic>
      <p:sp>
        <p:nvSpPr>
          <p:cNvPr id="3" name="TextBox 2">
            <a:extLst>
              <a:ext uri="{FF2B5EF4-FFF2-40B4-BE49-F238E27FC236}">
                <a16:creationId xmlns:a16="http://schemas.microsoft.com/office/drawing/2014/main" id="{36BF7436-9E1B-90BF-6605-FEEB33201313}"/>
              </a:ext>
            </a:extLst>
          </p:cNvPr>
          <p:cNvSpPr txBox="1"/>
          <p:nvPr/>
        </p:nvSpPr>
        <p:spPr>
          <a:xfrm>
            <a:off x="3884612" y="685800"/>
            <a:ext cx="6626072" cy="3615267"/>
          </a:xfrm>
          <a:prstGeom prst="rect">
            <a:avLst/>
          </a:prstGeom>
        </p:spPr>
        <p:txBody>
          <a:bodyPr vert="horz" lIns="91440" tIns="45720" rIns="91440" bIns="45720" rtlCol="0" anchor="ctr">
            <a:normAutofit/>
          </a:bodyPr>
          <a:lstStyle/>
          <a:p>
            <a:pPr>
              <a:spcBef>
                <a:spcPct val="20000"/>
              </a:spcBef>
              <a:spcAft>
                <a:spcPts val="600"/>
              </a:spcAft>
              <a:buClr>
                <a:schemeClr val="tx1"/>
              </a:buClr>
              <a:buSzPct val="80000"/>
              <a:buFont typeface="Wingdings 3" panose="05040102010807070707" pitchFamily="18" charset="2"/>
              <a:buChar char=""/>
            </a:pPr>
            <a:r>
              <a:rPr lang="en-US">
                <a:solidFill>
                  <a:schemeClr val="bg2">
                    <a:lumMod val="75000"/>
                  </a:schemeClr>
                </a:solidFill>
              </a:rPr>
              <a:t>NeoCortexAPI is a framework for implementing Hierarchical Temporal Memory (HTM) and Sparse Distributed Representations (SDRs) in machine learning applications. Spatial Pooler (SP): This algorithm learns spatial patterns by identifying and reinforcing active synapses in response to input data, creating stable representations for similar inputs. Spatial Pooler, Temporal Memory (TM) , Encoders,  Cortical Network Algorithms are some of the key components.</a:t>
            </a:r>
          </a:p>
        </p:txBody>
      </p:sp>
      <p:grpSp>
        <p:nvGrpSpPr>
          <p:cNvPr id="18" name="Group 17">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9" name="Straight Connector 18">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Footer Placeholder 1">
            <a:extLst>
              <a:ext uri="{FF2B5EF4-FFF2-40B4-BE49-F238E27FC236}">
                <a16:creationId xmlns:a16="http://schemas.microsoft.com/office/drawing/2014/main" id="{0C465F37-3326-C43B-9821-56FEA9AD8C18}"/>
              </a:ext>
            </a:extLst>
          </p:cNvPr>
          <p:cNvSpPr>
            <a:spLocks noGrp="1"/>
          </p:cNvSpPr>
          <p:nvPr>
            <p:ph type="ftr" sz="quarter" idx="11"/>
          </p:nvPr>
        </p:nvSpPr>
        <p:spPr>
          <a:xfrm>
            <a:off x="0" y="6492865"/>
            <a:ext cx="7543800" cy="365125"/>
          </a:xfrm>
        </p:spPr>
        <p:txBody>
          <a:bodyPr/>
          <a:lstStyle/>
          <a:p>
            <a:r>
              <a:rPr lang="en-US" sz="1800" b="1" dirty="0">
                <a:solidFill>
                  <a:schemeClr val="bg1"/>
                </a:solidFill>
              </a:rPr>
              <a:t>Frankfurt University Of Applied Sciences</a:t>
            </a:r>
          </a:p>
        </p:txBody>
      </p:sp>
    </p:spTree>
    <p:extLst>
      <p:ext uri="{BB962C8B-B14F-4D97-AF65-F5344CB8AC3E}">
        <p14:creationId xmlns:p14="http://schemas.microsoft.com/office/powerpoint/2010/main" val="2214789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13A7-01CB-37E6-B67A-69086179A92E}"/>
              </a:ext>
            </a:extLst>
          </p:cNvPr>
          <p:cNvSpPr>
            <a:spLocks noGrp="1"/>
          </p:cNvSpPr>
          <p:nvPr>
            <p:ph type="title"/>
          </p:nvPr>
        </p:nvSpPr>
        <p:spPr>
          <a:xfrm>
            <a:off x="4661860" y="4487332"/>
            <a:ext cx="5627258" cy="1507067"/>
          </a:xfrm>
        </p:spPr>
        <p:txBody>
          <a:bodyPr vert="horz" lIns="91440" tIns="45720" rIns="91440" bIns="45720" rtlCol="0">
            <a:normAutofit/>
          </a:bodyPr>
          <a:lstStyle/>
          <a:p>
            <a:r>
              <a:rPr lang="en-US" kern="1200" dirty="0">
                <a:latin typeface="+mj-lt"/>
                <a:ea typeface="+mj-ea"/>
                <a:cs typeface="+mj-cs"/>
              </a:rPr>
              <a:t>Methodology</a:t>
            </a:r>
          </a:p>
        </p:txBody>
      </p:sp>
      <p:sp>
        <p:nvSpPr>
          <p:cNvPr id="13" name="Content Placeholder 12">
            <a:extLst>
              <a:ext uri="{FF2B5EF4-FFF2-40B4-BE49-F238E27FC236}">
                <a16:creationId xmlns:a16="http://schemas.microsoft.com/office/drawing/2014/main" id="{4E65F1D6-2366-DBA8-8A48-6F6F96D1371D}"/>
              </a:ext>
            </a:extLst>
          </p:cNvPr>
          <p:cNvSpPr>
            <a:spLocks noGrp="1"/>
          </p:cNvSpPr>
          <p:nvPr>
            <p:ph idx="1"/>
          </p:nvPr>
        </p:nvSpPr>
        <p:spPr>
          <a:xfrm>
            <a:off x="4661860" y="685800"/>
            <a:ext cx="6253792" cy="3615267"/>
          </a:xfrm>
        </p:spPr>
        <p:txBody>
          <a:bodyPr>
            <a:normAutofit/>
          </a:bodyPr>
          <a:lstStyle/>
          <a:p>
            <a:r>
              <a:rPr lang="en-US" dirty="0"/>
              <a:t>The proposed methodology involves transforming input images into Sparse Distributed Representations (SDRs), predicting SDRs using classifiers, reconstructing images, and evaluating their efficiency.</a:t>
            </a:r>
          </a:p>
        </p:txBody>
      </p:sp>
      <p:pic>
        <p:nvPicPr>
          <p:cNvPr id="9" name="Content Placeholder 8" descr="A diagram of a company&#10;&#10;AI-generated content may be incorrect.">
            <a:extLst>
              <a:ext uri="{FF2B5EF4-FFF2-40B4-BE49-F238E27FC236}">
                <a16:creationId xmlns:a16="http://schemas.microsoft.com/office/drawing/2014/main" id="{0417F1F8-7874-A7BB-CFCB-8D4C32F6DAB7}"/>
              </a:ext>
            </a:extLst>
          </p:cNvPr>
          <p:cNvPicPr>
            <a:picLocks noChangeAspect="1"/>
          </p:cNvPicPr>
          <p:nvPr/>
        </p:nvPicPr>
        <p:blipFill>
          <a:blip r:embed="rId2">
            <a:extLst>
              <a:ext uri="{28A0092B-C50C-407E-A947-70E740481C1C}">
                <a14:useLocalDpi xmlns:a14="http://schemas.microsoft.com/office/drawing/2010/main" val="0"/>
              </a:ext>
            </a:extLst>
          </a:blip>
          <a:srcRect r="231" b="-1"/>
          <a:stretch/>
        </p:blipFill>
        <p:spPr>
          <a:xfrm>
            <a:off x="800558" y="786117"/>
            <a:ext cx="3337560" cy="4956048"/>
          </a:xfrm>
          <a:custGeom>
            <a:avLst/>
            <a:gdLst/>
            <a:ahLst/>
            <a:cxnLst/>
            <a:rect l="l" t="t" r="r" b="b"/>
            <a:pathLst>
              <a:path w="3337560" h="4956048">
                <a:moveTo>
                  <a:pt x="384420" y="0"/>
                </a:moveTo>
                <a:lnTo>
                  <a:pt x="3337560" y="0"/>
                </a:lnTo>
                <a:lnTo>
                  <a:pt x="3337560" y="4571628"/>
                </a:lnTo>
                <a:lnTo>
                  <a:pt x="2953140" y="4956048"/>
                </a:lnTo>
                <a:lnTo>
                  <a:pt x="0" y="4956048"/>
                </a:lnTo>
                <a:lnTo>
                  <a:pt x="0" y="384420"/>
                </a:lnTo>
                <a:close/>
              </a:path>
            </a:pathLst>
          </a:custGeom>
        </p:spPr>
      </p:pic>
      <p:sp>
        <p:nvSpPr>
          <p:cNvPr id="3" name="Footer Placeholder 2">
            <a:extLst>
              <a:ext uri="{FF2B5EF4-FFF2-40B4-BE49-F238E27FC236}">
                <a16:creationId xmlns:a16="http://schemas.microsoft.com/office/drawing/2014/main" id="{B50899A5-8F7C-E47E-9D9F-4E438870305D}"/>
              </a:ext>
            </a:extLst>
          </p:cNvPr>
          <p:cNvSpPr>
            <a:spLocks noGrp="1"/>
          </p:cNvSpPr>
          <p:nvPr>
            <p:ph type="ftr" sz="quarter" idx="11"/>
          </p:nvPr>
        </p:nvSpPr>
        <p:spPr/>
        <p:txBody>
          <a:bodyPr/>
          <a:lstStyle/>
          <a:p>
            <a:r>
              <a:rPr lang="en-US" b="1" dirty="0"/>
              <a:t>Frankfurt University Of Applied Sciences</a:t>
            </a:r>
          </a:p>
        </p:txBody>
      </p:sp>
    </p:spTree>
    <p:extLst>
      <p:ext uri="{BB962C8B-B14F-4D97-AF65-F5344CB8AC3E}">
        <p14:creationId xmlns:p14="http://schemas.microsoft.com/office/powerpoint/2010/main" val="1581613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921782-2D8B-5409-19E1-66CE55125A83}"/>
              </a:ext>
            </a:extLst>
          </p:cNvPr>
          <p:cNvSpPr/>
          <p:nvPr/>
        </p:nvSpPr>
        <p:spPr>
          <a:xfrm>
            <a:off x="2628862" y="5144004"/>
            <a:ext cx="655660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Image Binarizatio</a:t>
            </a:r>
            <a:r>
              <a:rPr lang="en-US" sz="5400" dirty="0">
                <a:ln w="0"/>
                <a:effectLst>
                  <a:outerShdw blurRad="38100" dist="19050" dir="2700000" algn="tl" rotWithShape="0">
                    <a:schemeClr val="dk1">
                      <a:alpha val="40000"/>
                    </a:schemeClr>
                  </a:outerShdw>
                </a:effectLst>
              </a:rPr>
              <a:t>n </a:t>
            </a: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4" name="Picture 3">
            <a:extLst>
              <a:ext uri="{FF2B5EF4-FFF2-40B4-BE49-F238E27FC236}">
                <a16:creationId xmlns:a16="http://schemas.microsoft.com/office/drawing/2014/main" id="{E0E48761-CE85-E9C1-8599-A912602AB1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6017" y="1946890"/>
            <a:ext cx="8258454" cy="2044085"/>
          </a:xfrm>
          <a:prstGeom prst="rect">
            <a:avLst/>
          </a:prstGeom>
        </p:spPr>
      </p:pic>
      <p:sp>
        <p:nvSpPr>
          <p:cNvPr id="3" name="Footer Placeholder 2">
            <a:extLst>
              <a:ext uri="{FF2B5EF4-FFF2-40B4-BE49-F238E27FC236}">
                <a16:creationId xmlns:a16="http://schemas.microsoft.com/office/drawing/2014/main" id="{26EC0BE0-2149-A0A9-26A6-80D62FBC2E2C}"/>
              </a:ext>
            </a:extLst>
          </p:cNvPr>
          <p:cNvSpPr>
            <a:spLocks noGrp="1"/>
          </p:cNvSpPr>
          <p:nvPr>
            <p:ph type="ftr" sz="quarter" idx="11"/>
          </p:nvPr>
        </p:nvSpPr>
        <p:spPr/>
        <p:txBody>
          <a:bodyPr/>
          <a:lstStyle/>
          <a:p>
            <a:r>
              <a:rPr lang="en-US" sz="1600" b="1" dirty="0"/>
              <a:t>Frankfurt University Of Applied Sciences</a:t>
            </a:r>
          </a:p>
        </p:txBody>
      </p:sp>
    </p:spTree>
    <p:extLst>
      <p:ext uri="{BB962C8B-B14F-4D97-AF65-F5344CB8AC3E}">
        <p14:creationId xmlns:p14="http://schemas.microsoft.com/office/powerpoint/2010/main" val="4685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8CCEC-2D1D-DA24-59EB-6629EF67DF8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C8C36D-FDDD-F024-E1D5-3B70B11435D4}"/>
              </a:ext>
            </a:extLst>
          </p:cNvPr>
          <p:cNvSpPr/>
          <p:nvPr/>
        </p:nvSpPr>
        <p:spPr>
          <a:xfrm>
            <a:off x="749348" y="5144004"/>
            <a:ext cx="10315645"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Spatial pooler- Extracting SDRs</a:t>
            </a:r>
          </a:p>
        </p:txBody>
      </p:sp>
      <p:pic>
        <p:nvPicPr>
          <p:cNvPr id="5" name="Picture 4" descr="A diagram of a computer process&#10;&#10;AI-generated content may be incorrect.">
            <a:extLst>
              <a:ext uri="{FF2B5EF4-FFF2-40B4-BE49-F238E27FC236}">
                <a16:creationId xmlns:a16="http://schemas.microsoft.com/office/drawing/2014/main" id="{6F5AB9BC-19ED-ADB3-640D-FFAC111F13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0985" y="1884411"/>
            <a:ext cx="9190030" cy="2068900"/>
          </a:xfrm>
          <a:prstGeom prst="rect">
            <a:avLst/>
          </a:prstGeom>
        </p:spPr>
      </p:pic>
      <p:sp>
        <p:nvSpPr>
          <p:cNvPr id="3" name="Footer Placeholder 2">
            <a:extLst>
              <a:ext uri="{FF2B5EF4-FFF2-40B4-BE49-F238E27FC236}">
                <a16:creationId xmlns:a16="http://schemas.microsoft.com/office/drawing/2014/main" id="{A366E12E-8301-D8A5-C795-2B1100B8EAA6}"/>
              </a:ext>
            </a:extLst>
          </p:cNvPr>
          <p:cNvSpPr>
            <a:spLocks noGrp="1"/>
          </p:cNvSpPr>
          <p:nvPr>
            <p:ph type="ftr" sz="quarter" idx="11"/>
          </p:nvPr>
        </p:nvSpPr>
        <p:spPr/>
        <p:txBody>
          <a:bodyPr/>
          <a:lstStyle/>
          <a:p>
            <a:r>
              <a:rPr lang="en-US" sz="1600" b="1" dirty="0"/>
              <a:t>Frankfurt University Of Applied Sciences</a:t>
            </a:r>
          </a:p>
        </p:txBody>
      </p:sp>
    </p:spTree>
    <p:extLst>
      <p:ext uri="{BB962C8B-B14F-4D97-AF65-F5344CB8AC3E}">
        <p14:creationId xmlns:p14="http://schemas.microsoft.com/office/powerpoint/2010/main" val="1985839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9BD54B-DCC6-03FB-EE9C-80116A2EF7FA}"/>
              </a:ext>
            </a:extLst>
          </p:cNvPr>
          <p:cNvSpPr txBox="1"/>
          <p:nvPr/>
        </p:nvSpPr>
        <p:spPr>
          <a:xfrm>
            <a:off x="1143000" y="2477728"/>
            <a:ext cx="3810000" cy="270387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kern="1200" dirty="0">
                <a:solidFill>
                  <a:schemeClr val="tx1"/>
                </a:solidFill>
                <a:latin typeface="+mj-lt"/>
                <a:ea typeface="+mj-ea"/>
                <a:cs typeface="+mj-cs"/>
              </a:rPr>
              <a:t>What are HTM and KNN Classifiers </a:t>
            </a:r>
          </a:p>
        </p:txBody>
      </p:sp>
      <p:sp>
        <p:nvSpPr>
          <p:cNvPr id="9" name="Rectangle 5">
            <a:extLst>
              <a:ext uri="{FF2B5EF4-FFF2-40B4-BE49-F238E27FC236}">
                <a16:creationId xmlns:a16="http://schemas.microsoft.com/office/drawing/2014/main" id="{794CCBA1-CEFB-A017-98CB-A8038711C212}"/>
              </a:ext>
            </a:extLst>
          </p:cNvPr>
          <p:cNvSpPr>
            <a:spLocks noChangeArrowheads="1"/>
          </p:cNvSpPr>
          <p:nvPr/>
        </p:nvSpPr>
        <p:spPr bwMode="auto">
          <a:xfrm>
            <a:off x="4893202" y="580103"/>
            <a:ext cx="7151314" cy="479727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R="0" lvl="0" fontAlgn="base">
              <a:lnSpc>
                <a:spcPct val="90000"/>
              </a:lnSpc>
              <a:spcBef>
                <a:spcPct val="0"/>
              </a:spcBef>
              <a:spcAft>
                <a:spcPts val="600"/>
              </a:spcAft>
              <a:buClrTx/>
              <a:buSzTx/>
              <a:tabLst/>
            </a:pPr>
            <a:r>
              <a:rPr kumimoji="0" lang="en-US" altLang="en-US" sz="2000" i="0" u="none" strike="noStrike" cap="none" normalizeH="0" baseline="0" dirty="0">
                <a:ln>
                  <a:noFill/>
                </a:ln>
                <a:solidFill>
                  <a:schemeClr val="bg1">
                    <a:alpha val="55000"/>
                  </a:schemeClr>
                </a:solidFill>
                <a:effectLst/>
              </a:rPr>
              <a:t>HTM (Hierarchical Temporal Memory) Classifier</a:t>
            </a:r>
          </a:p>
          <a:p>
            <a:pPr marR="0" lvl="0" fontAlgn="base">
              <a:lnSpc>
                <a:spcPct val="90000"/>
              </a:lnSpc>
              <a:spcBef>
                <a:spcPct val="0"/>
              </a:spcBef>
              <a:spcAft>
                <a:spcPts val="600"/>
              </a:spcAft>
              <a:buClrTx/>
              <a:buSzTx/>
              <a:tabLst/>
            </a:pPr>
            <a:endParaRPr kumimoji="0" lang="en-US" altLang="en-US" sz="2000" i="0" u="none" strike="noStrike" cap="none" normalizeH="0" baseline="0" dirty="0">
              <a:ln>
                <a:noFill/>
              </a:ln>
              <a:solidFill>
                <a:schemeClr val="bg1">
                  <a:alpha val="55000"/>
                </a:schemeClr>
              </a:solidFill>
              <a:effectLst/>
            </a:endParaRPr>
          </a:p>
          <a:p>
            <a:pPr marL="457200" marR="0" lvl="0" indent="-457200" fontAlgn="base">
              <a:lnSpc>
                <a:spcPct val="90000"/>
              </a:lnSpc>
              <a:spcBef>
                <a:spcPct val="0"/>
              </a:spcBef>
              <a:spcAft>
                <a:spcPts val="600"/>
              </a:spcAft>
              <a:buClrTx/>
              <a:buSzTx/>
              <a:buFont typeface="Arial" panose="020B0604020202020204" pitchFamily="34" charset="0"/>
              <a:buChar char="•"/>
              <a:tabLst/>
            </a:pPr>
            <a:r>
              <a:rPr kumimoji="0" lang="en-US" altLang="en-US" sz="2000" i="0" u="none" strike="noStrike" cap="none" normalizeH="0" baseline="0" dirty="0">
                <a:ln>
                  <a:noFill/>
                </a:ln>
                <a:solidFill>
                  <a:schemeClr val="bg1">
                    <a:alpha val="55000"/>
                  </a:schemeClr>
                </a:solidFill>
                <a:effectLst/>
              </a:rPr>
              <a:t>Inspired by the neocortex, HTM learns temporal patterns and makes predictions based on sequences. </a:t>
            </a:r>
          </a:p>
          <a:p>
            <a:pPr marL="457200" marR="0" lvl="0" indent="-457200" fontAlgn="base">
              <a:lnSpc>
                <a:spcPct val="90000"/>
              </a:lnSpc>
              <a:spcBef>
                <a:spcPct val="0"/>
              </a:spcBef>
              <a:spcAft>
                <a:spcPts val="600"/>
              </a:spcAft>
              <a:buClrTx/>
              <a:buSzTx/>
              <a:buFont typeface="Arial" panose="020B0604020202020204" pitchFamily="34" charset="0"/>
              <a:buChar char="•"/>
              <a:tabLst/>
            </a:pPr>
            <a:r>
              <a:rPr kumimoji="0" lang="en-US" altLang="en-US" sz="2000" i="0" u="none" strike="noStrike" cap="none" normalizeH="0" baseline="0" dirty="0">
                <a:ln>
                  <a:noFill/>
                </a:ln>
                <a:solidFill>
                  <a:schemeClr val="bg1">
                    <a:alpha val="55000"/>
                  </a:schemeClr>
                </a:solidFill>
                <a:effectLst/>
              </a:rPr>
              <a:t>Uses sparse distributed representations (SDRs) for robust recognition and anomaly detection. </a:t>
            </a:r>
          </a:p>
          <a:p>
            <a:pPr marL="457200" marR="0" lvl="0" indent="-457200" fontAlgn="base">
              <a:lnSpc>
                <a:spcPct val="90000"/>
              </a:lnSpc>
              <a:spcBef>
                <a:spcPct val="0"/>
              </a:spcBef>
              <a:spcAft>
                <a:spcPts val="600"/>
              </a:spcAft>
              <a:buClrTx/>
              <a:buSzTx/>
              <a:buFont typeface="Arial" panose="020B0604020202020204" pitchFamily="34" charset="0"/>
              <a:buChar char="•"/>
              <a:tabLst/>
            </a:pPr>
            <a:r>
              <a:rPr kumimoji="0" lang="en-US" altLang="en-US" sz="2000" i="0" u="none" strike="noStrike" cap="none" normalizeH="0" baseline="0" dirty="0">
                <a:ln>
                  <a:noFill/>
                </a:ln>
                <a:solidFill>
                  <a:schemeClr val="bg1">
                    <a:alpha val="55000"/>
                  </a:schemeClr>
                </a:solidFill>
                <a:effectLst/>
              </a:rPr>
              <a:t>Suitable for streaming data and sequential learning. </a:t>
            </a:r>
          </a:p>
          <a:p>
            <a:pPr marR="0" lvl="0" fontAlgn="base">
              <a:lnSpc>
                <a:spcPct val="90000"/>
              </a:lnSpc>
              <a:spcBef>
                <a:spcPct val="0"/>
              </a:spcBef>
              <a:spcAft>
                <a:spcPts val="600"/>
              </a:spcAft>
              <a:buClrTx/>
              <a:buSzTx/>
              <a:tabLst/>
            </a:pPr>
            <a:endParaRPr kumimoji="0" lang="en-US" altLang="en-US" sz="2000" i="0" u="none" strike="noStrike" cap="none" normalizeH="0" baseline="0" dirty="0">
              <a:ln>
                <a:noFill/>
              </a:ln>
              <a:solidFill>
                <a:schemeClr val="bg1">
                  <a:alpha val="55000"/>
                </a:schemeClr>
              </a:solidFill>
              <a:effectLst/>
            </a:endParaRPr>
          </a:p>
          <a:p>
            <a:pPr marR="0" lvl="0" fontAlgn="base">
              <a:lnSpc>
                <a:spcPct val="90000"/>
              </a:lnSpc>
              <a:spcBef>
                <a:spcPct val="0"/>
              </a:spcBef>
              <a:spcAft>
                <a:spcPts val="600"/>
              </a:spcAft>
              <a:buClrTx/>
              <a:buSzTx/>
              <a:tabLst/>
            </a:pPr>
            <a:r>
              <a:rPr kumimoji="0" lang="en-US" altLang="en-US" sz="2000" i="0" u="none" strike="noStrike" cap="none" normalizeH="0" baseline="0" dirty="0">
                <a:ln>
                  <a:noFill/>
                </a:ln>
                <a:solidFill>
                  <a:schemeClr val="bg1">
                    <a:alpha val="55000"/>
                  </a:schemeClr>
                </a:solidFill>
                <a:effectLst/>
              </a:rPr>
              <a:t>KNN (K-Nearest Neighbors) Classifier</a:t>
            </a:r>
          </a:p>
          <a:p>
            <a:pPr marR="0" lvl="0" fontAlgn="base">
              <a:lnSpc>
                <a:spcPct val="90000"/>
              </a:lnSpc>
              <a:spcBef>
                <a:spcPct val="0"/>
              </a:spcBef>
              <a:spcAft>
                <a:spcPts val="600"/>
              </a:spcAft>
              <a:buClrTx/>
              <a:buSzTx/>
              <a:tabLst/>
            </a:pPr>
            <a:endParaRPr kumimoji="0" lang="en-US" altLang="en-US" sz="2000" i="0" u="none" strike="noStrike" cap="none" normalizeH="0" baseline="0" dirty="0">
              <a:ln>
                <a:noFill/>
              </a:ln>
              <a:solidFill>
                <a:schemeClr val="bg1">
                  <a:alpha val="55000"/>
                </a:schemeClr>
              </a:solidFill>
              <a:effectLst/>
            </a:endParaRPr>
          </a:p>
          <a:p>
            <a:pPr marL="342900" marR="0" lvl="0" indent="-342900" fontAlgn="base">
              <a:lnSpc>
                <a:spcPct val="90000"/>
              </a:lnSpc>
              <a:spcBef>
                <a:spcPct val="0"/>
              </a:spcBef>
              <a:spcAft>
                <a:spcPts val="600"/>
              </a:spcAft>
              <a:buClrTx/>
              <a:buSzTx/>
              <a:buFont typeface="Arial" panose="020B0604020202020204" pitchFamily="34" charset="0"/>
              <a:buChar char="•"/>
              <a:tabLst/>
            </a:pPr>
            <a:r>
              <a:rPr kumimoji="0" lang="en-US" altLang="en-US" sz="2000" i="0" u="none" strike="noStrike" cap="none" normalizeH="0" baseline="0" dirty="0">
                <a:ln>
                  <a:noFill/>
                </a:ln>
                <a:solidFill>
                  <a:schemeClr val="bg1">
                    <a:alpha val="55000"/>
                  </a:schemeClr>
                </a:solidFill>
                <a:effectLst/>
              </a:rPr>
              <a:t>A simple, instance-based learning algorithm that classifies data based on similarity to its nearest neighbors. </a:t>
            </a:r>
          </a:p>
          <a:p>
            <a:pPr marL="342900" marR="0" lvl="0" indent="-342900" fontAlgn="base">
              <a:lnSpc>
                <a:spcPct val="90000"/>
              </a:lnSpc>
              <a:spcBef>
                <a:spcPct val="0"/>
              </a:spcBef>
              <a:spcAft>
                <a:spcPts val="600"/>
              </a:spcAft>
              <a:buClrTx/>
              <a:buSzTx/>
              <a:buFont typeface="Arial" panose="020B0604020202020204" pitchFamily="34" charset="0"/>
              <a:buChar char="•"/>
              <a:tabLst/>
            </a:pPr>
            <a:r>
              <a:rPr kumimoji="0" lang="en-US" altLang="en-US" sz="2000" i="0" u="none" strike="noStrike" cap="none" normalizeH="0" baseline="0" dirty="0">
                <a:ln>
                  <a:noFill/>
                </a:ln>
                <a:solidFill>
                  <a:schemeClr val="bg1">
                    <a:alpha val="55000"/>
                  </a:schemeClr>
                </a:solidFill>
                <a:effectLst/>
              </a:rPr>
              <a:t>Does not require a training phase but depends on distance metrics (e.g., Euclidean, Cosine). </a:t>
            </a:r>
          </a:p>
          <a:p>
            <a:pPr marL="342900" marR="0" lvl="0" indent="-342900" fontAlgn="base">
              <a:lnSpc>
                <a:spcPct val="90000"/>
              </a:lnSpc>
              <a:spcBef>
                <a:spcPct val="0"/>
              </a:spcBef>
              <a:spcAft>
                <a:spcPts val="600"/>
              </a:spcAft>
              <a:buClrTx/>
              <a:buSzTx/>
              <a:buFont typeface="Arial" panose="020B0604020202020204" pitchFamily="34" charset="0"/>
              <a:buChar char="•"/>
              <a:tabLst/>
            </a:pPr>
            <a:r>
              <a:rPr kumimoji="0" lang="en-US" altLang="en-US" sz="2000" i="0" u="none" strike="noStrike" cap="none" normalizeH="0" baseline="0" dirty="0">
                <a:ln>
                  <a:noFill/>
                </a:ln>
                <a:solidFill>
                  <a:schemeClr val="bg1">
                    <a:alpha val="55000"/>
                  </a:schemeClr>
                </a:solidFill>
                <a:effectLst/>
              </a:rPr>
              <a:t>Effective for pattern recognition but computationally expensive for large datasets.</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alpha val="55000"/>
                </a:schemeClr>
              </a:solidFill>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2000" dirty="0"/>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2000" dirty="0">
              <a:solidFill>
                <a:schemeClr val="tx1">
                  <a:alpha val="55000"/>
                </a:schemeClr>
              </a:solidFill>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alpha val="55000"/>
                </a:schemeClr>
              </a:solidFill>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2000" dirty="0">
              <a:solidFill>
                <a:schemeClr val="tx1">
                  <a:alpha val="55000"/>
                </a:schemeClr>
              </a:solidFill>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alpha val="55000"/>
                </a:schemeClr>
              </a:solidFill>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2000" dirty="0">
              <a:solidFill>
                <a:schemeClr val="tx1">
                  <a:alpha val="55000"/>
                </a:schemeClr>
              </a:solidFill>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alpha val="55000"/>
                </a:schemeClr>
              </a:solidFill>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2000" dirty="0">
              <a:solidFill>
                <a:schemeClr val="tx1">
                  <a:alpha val="55000"/>
                </a:schemeClr>
              </a:solidFill>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alpha val="55000"/>
                </a:schemeClr>
              </a:solidFill>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2000" dirty="0">
              <a:solidFill>
                <a:schemeClr val="tx1">
                  <a:alpha val="55000"/>
                </a:schemeClr>
              </a:solidFill>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alpha val="55000"/>
                </a:schemeClr>
              </a:solidFill>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2000" dirty="0">
              <a:solidFill>
                <a:schemeClr val="tx1">
                  <a:alpha val="55000"/>
                </a:schemeClr>
              </a:solidFill>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2000" dirty="0">
              <a:solidFill>
                <a:schemeClr val="tx1">
                  <a:alpha val="55000"/>
                </a:schemeClr>
              </a:solidFill>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alpha val="55000"/>
                </a:schemeClr>
              </a:solidFill>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000" i="0" u="none" strike="noStrike" cap="none" normalizeH="0" baseline="0" dirty="0">
              <a:ln>
                <a:noFill/>
              </a:ln>
              <a:solidFill>
                <a:schemeClr val="tx1">
                  <a:alpha val="55000"/>
                </a:schemeClr>
              </a:solidFill>
              <a:effectLst/>
            </a:endParaRPr>
          </a:p>
        </p:txBody>
      </p:sp>
      <p:sp>
        <p:nvSpPr>
          <p:cNvPr id="3" name="Footer Placeholder 2">
            <a:extLst>
              <a:ext uri="{FF2B5EF4-FFF2-40B4-BE49-F238E27FC236}">
                <a16:creationId xmlns:a16="http://schemas.microsoft.com/office/drawing/2014/main" id="{5881A65E-4E41-1474-899A-54C93F788C08}"/>
              </a:ext>
            </a:extLst>
          </p:cNvPr>
          <p:cNvSpPr>
            <a:spLocks noGrp="1"/>
          </p:cNvSpPr>
          <p:nvPr>
            <p:ph type="ftr" sz="quarter" idx="11"/>
          </p:nvPr>
        </p:nvSpPr>
        <p:spPr/>
        <p:txBody>
          <a:bodyPr/>
          <a:lstStyle/>
          <a:p>
            <a:r>
              <a:rPr lang="en-US" sz="1600" b="1" dirty="0"/>
              <a:t>Frankfurt University Of Applied Sciences</a:t>
            </a:r>
          </a:p>
        </p:txBody>
      </p:sp>
    </p:spTree>
    <p:extLst>
      <p:ext uri="{BB962C8B-B14F-4D97-AF65-F5344CB8AC3E}">
        <p14:creationId xmlns:p14="http://schemas.microsoft.com/office/powerpoint/2010/main" val="3955490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401B6-4994-9029-5A3F-68A1998DDD7A}"/>
              </a:ext>
            </a:extLst>
          </p:cNvPr>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kern="1200" dirty="0">
                <a:solidFill>
                  <a:schemeClr val="tx1">
                    <a:lumMod val="85000"/>
                    <a:lumOff val="15000"/>
                  </a:schemeClr>
                </a:solidFill>
                <a:latin typeface="+mj-lt"/>
                <a:ea typeface="+mj-ea"/>
                <a:cs typeface="+mj-cs"/>
              </a:rPr>
              <a:t>KNN Classifier</a:t>
            </a:r>
          </a:p>
        </p:txBody>
      </p:sp>
      <p:pic>
        <p:nvPicPr>
          <p:cNvPr id="7" name="Content Placeholder 6" descr="A diagram of a store classification&#10;&#10;AI-generated content may be incorrect.">
            <a:extLst>
              <a:ext uri="{FF2B5EF4-FFF2-40B4-BE49-F238E27FC236}">
                <a16:creationId xmlns:a16="http://schemas.microsoft.com/office/drawing/2014/main" id="{AA4FBE63-4680-E930-866F-11F7B61005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4166" y="2073245"/>
            <a:ext cx="10103667" cy="2164712"/>
          </a:xfrm>
          <a:prstGeom prst="rect">
            <a:avLst/>
          </a:prstGeom>
        </p:spPr>
      </p:pic>
      <p:sp>
        <p:nvSpPr>
          <p:cNvPr id="3" name="Footer Placeholder 2">
            <a:extLst>
              <a:ext uri="{FF2B5EF4-FFF2-40B4-BE49-F238E27FC236}">
                <a16:creationId xmlns:a16="http://schemas.microsoft.com/office/drawing/2014/main" id="{91E6D9D3-689A-3940-D110-3AAC974FD536}"/>
              </a:ext>
            </a:extLst>
          </p:cNvPr>
          <p:cNvSpPr>
            <a:spLocks noGrp="1"/>
          </p:cNvSpPr>
          <p:nvPr>
            <p:ph type="ftr" sz="quarter" idx="11"/>
          </p:nvPr>
        </p:nvSpPr>
        <p:spPr/>
        <p:txBody>
          <a:bodyPr/>
          <a:lstStyle/>
          <a:p>
            <a:r>
              <a:rPr lang="en-US" b="1" dirty="0"/>
              <a:t>Frankfurt University Of Applied Sciences</a:t>
            </a:r>
          </a:p>
        </p:txBody>
      </p:sp>
    </p:spTree>
    <p:extLst>
      <p:ext uri="{BB962C8B-B14F-4D97-AF65-F5344CB8AC3E}">
        <p14:creationId xmlns:p14="http://schemas.microsoft.com/office/powerpoint/2010/main" val="2496160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6ECBE-59A3-137C-DE2B-A84699D2B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AD0F9-76F3-5B27-C1C5-58FE95D94472}"/>
              </a:ext>
            </a:extLst>
          </p:cNvPr>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kern="1200" dirty="0">
                <a:solidFill>
                  <a:schemeClr val="tx1">
                    <a:lumMod val="85000"/>
                    <a:lumOff val="15000"/>
                  </a:schemeClr>
                </a:solidFill>
                <a:latin typeface="+mj-lt"/>
                <a:ea typeface="+mj-ea"/>
                <a:cs typeface="+mj-cs"/>
              </a:rPr>
              <a:t>HTM Classifier</a:t>
            </a:r>
          </a:p>
        </p:txBody>
      </p:sp>
      <p:pic>
        <p:nvPicPr>
          <p:cNvPr id="6" name="Content Placeholder 5" descr="A diagram of a process&#10;&#10;AI-generated content may be incorrect.">
            <a:extLst>
              <a:ext uri="{FF2B5EF4-FFF2-40B4-BE49-F238E27FC236}">
                <a16:creationId xmlns:a16="http://schemas.microsoft.com/office/drawing/2014/main" id="{B6547E40-63F9-2F3E-2E7E-835C021E3D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6293" y="1928388"/>
            <a:ext cx="10157988" cy="2308634"/>
          </a:xfrm>
          <a:prstGeom prst="rect">
            <a:avLst/>
          </a:prstGeom>
        </p:spPr>
      </p:pic>
      <p:sp>
        <p:nvSpPr>
          <p:cNvPr id="3" name="Footer Placeholder 2">
            <a:extLst>
              <a:ext uri="{FF2B5EF4-FFF2-40B4-BE49-F238E27FC236}">
                <a16:creationId xmlns:a16="http://schemas.microsoft.com/office/drawing/2014/main" id="{82D2834D-A3C8-11A9-EB2C-76F7C729ECDD}"/>
              </a:ext>
            </a:extLst>
          </p:cNvPr>
          <p:cNvSpPr>
            <a:spLocks noGrp="1"/>
          </p:cNvSpPr>
          <p:nvPr>
            <p:ph type="ftr" sz="quarter" idx="11"/>
          </p:nvPr>
        </p:nvSpPr>
        <p:spPr/>
        <p:txBody>
          <a:bodyPr/>
          <a:lstStyle/>
          <a:p>
            <a:r>
              <a:rPr lang="en-US" b="1" dirty="0"/>
              <a:t>Frankfurt University Of Applied Sciences</a:t>
            </a:r>
          </a:p>
        </p:txBody>
      </p:sp>
    </p:spTree>
    <p:extLst>
      <p:ext uri="{BB962C8B-B14F-4D97-AF65-F5344CB8AC3E}">
        <p14:creationId xmlns:p14="http://schemas.microsoft.com/office/powerpoint/2010/main" val="1513505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1C3D1-51ED-9BCD-CD2E-AED9F3D54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562E9-1CC7-217E-DAA1-C525EAEC4C0A}"/>
              </a:ext>
            </a:extLst>
          </p:cNvPr>
          <p:cNvSpPr>
            <a:spLocks noGrp="1"/>
          </p:cNvSpPr>
          <p:nvPr>
            <p:ph type="title"/>
          </p:nvPr>
        </p:nvSpPr>
        <p:spPr>
          <a:xfrm>
            <a:off x="1255060" y="5279510"/>
            <a:ext cx="9681882" cy="1044287"/>
          </a:xfrm>
        </p:spPr>
        <p:txBody>
          <a:bodyPr vert="horz" lIns="91440" tIns="45720" rIns="91440" bIns="45720" rtlCol="0" anchor="b">
            <a:normAutofit fontScale="90000"/>
          </a:bodyPr>
          <a:lstStyle/>
          <a:p>
            <a:pPr algn="ctr"/>
            <a:r>
              <a:rPr lang="en-US" sz="3600" kern="1200" dirty="0">
                <a:solidFill>
                  <a:schemeClr val="tx1">
                    <a:lumMod val="85000"/>
                    <a:lumOff val="15000"/>
                  </a:schemeClr>
                </a:solidFill>
                <a:latin typeface="+mj-lt"/>
                <a:ea typeface="+mj-ea"/>
                <a:cs typeface="+mj-cs"/>
              </a:rPr>
              <a:t>Image Reconstruction using Classifiers.</a:t>
            </a:r>
          </a:p>
        </p:txBody>
      </p:sp>
      <p:pic>
        <p:nvPicPr>
          <p:cNvPr id="16" name="Content Placeholder 15" descr="A diagram of a process&#10;&#10;AI-generated content may be incorrect.">
            <a:extLst>
              <a:ext uri="{FF2B5EF4-FFF2-40B4-BE49-F238E27FC236}">
                <a16:creationId xmlns:a16="http://schemas.microsoft.com/office/drawing/2014/main" id="{C4641287-0358-AA72-ABE0-BD8C861231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1575" y="1964603"/>
            <a:ext cx="10515600" cy="2499868"/>
          </a:xfrm>
        </p:spPr>
      </p:pic>
      <p:sp>
        <p:nvSpPr>
          <p:cNvPr id="3" name="Footer Placeholder 2">
            <a:extLst>
              <a:ext uri="{FF2B5EF4-FFF2-40B4-BE49-F238E27FC236}">
                <a16:creationId xmlns:a16="http://schemas.microsoft.com/office/drawing/2014/main" id="{3DF384DC-CAB3-BA34-CC20-79EDFCE7DF8D}"/>
              </a:ext>
            </a:extLst>
          </p:cNvPr>
          <p:cNvSpPr>
            <a:spLocks noGrp="1"/>
          </p:cNvSpPr>
          <p:nvPr>
            <p:ph type="ftr" sz="quarter" idx="11"/>
          </p:nvPr>
        </p:nvSpPr>
        <p:spPr/>
        <p:txBody>
          <a:bodyPr/>
          <a:lstStyle/>
          <a:p>
            <a:r>
              <a:rPr lang="en-US" b="1" dirty="0"/>
              <a:t>Frankfurt University Of Applied Sciences</a:t>
            </a:r>
          </a:p>
        </p:txBody>
      </p:sp>
    </p:spTree>
    <p:extLst>
      <p:ext uri="{BB962C8B-B14F-4D97-AF65-F5344CB8AC3E}">
        <p14:creationId xmlns:p14="http://schemas.microsoft.com/office/powerpoint/2010/main" val="2375113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EF809E-60F2-FBB9-3A8F-C223899A4D11}"/>
              </a:ext>
            </a:extLst>
          </p:cNvPr>
          <p:cNvSpPr txBox="1"/>
          <p:nvPr/>
        </p:nvSpPr>
        <p:spPr>
          <a:xfrm>
            <a:off x="1255060" y="5279511"/>
            <a:ext cx="9681882" cy="739880"/>
          </a:xfrm>
          <a:prstGeom prst="rect">
            <a:avLst/>
          </a:prstGeom>
        </p:spPr>
        <p:txBody>
          <a:bodyPr vert="horz" lIns="91440" tIns="45720" rIns="91440" bIns="45720" rtlCol="0" anchor="b">
            <a:normAutofit fontScale="85000" lnSpcReduction="20000"/>
          </a:bodyPr>
          <a:lstStyle/>
          <a:p>
            <a:pPr algn="ctr">
              <a:lnSpc>
                <a:spcPct val="90000"/>
              </a:lnSpc>
              <a:spcBef>
                <a:spcPct val="0"/>
              </a:spcBef>
              <a:spcAft>
                <a:spcPts val="600"/>
              </a:spcAft>
            </a:pPr>
            <a:r>
              <a:rPr lang="en-US" sz="3300" kern="1200">
                <a:solidFill>
                  <a:schemeClr val="tx1">
                    <a:lumMod val="85000"/>
                    <a:lumOff val="15000"/>
                  </a:schemeClr>
                </a:solidFill>
                <a:latin typeface="+mj-lt"/>
                <a:ea typeface="+mj-ea"/>
                <a:cs typeface="+mj-cs"/>
              </a:rPr>
              <a:t>SDR’s generated for multiple Images for different cycles</a:t>
            </a:r>
          </a:p>
        </p:txBody>
      </p:sp>
      <p:pic>
        <p:nvPicPr>
          <p:cNvPr id="4" name="Picture 3">
            <a:extLst>
              <a:ext uri="{FF2B5EF4-FFF2-40B4-BE49-F238E27FC236}">
                <a16:creationId xmlns:a16="http://schemas.microsoft.com/office/drawing/2014/main" id="{F21C29DC-D200-2A14-8D72-516B6178BDA1}"/>
              </a:ext>
            </a:extLst>
          </p:cNvPr>
          <p:cNvPicPr>
            <a:picLocks noChangeAspect="1"/>
          </p:cNvPicPr>
          <p:nvPr/>
        </p:nvPicPr>
        <p:blipFill>
          <a:blip r:embed="rId2"/>
          <a:stretch>
            <a:fillRect/>
          </a:stretch>
        </p:blipFill>
        <p:spPr>
          <a:xfrm>
            <a:off x="433663" y="410646"/>
            <a:ext cx="11525842" cy="4115634"/>
          </a:xfrm>
          <a:prstGeom prst="rect">
            <a:avLst/>
          </a:prstGeom>
        </p:spPr>
      </p:pic>
      <p:sp>
        <p:nvSpPr>
          <p:cNvPr id="5" name="Footer Placeholder 4">
            <a:extLst>
              <a:ext uri="{FF2B5EF4-FFF2-40B4-BE49-F238E27FC236}">
                <a16:creationId xmlns:a16="http://schemas.microsoft.com/office/drawing/2014/main" id="{69D0A65E-DBF5-C5C0-2C55-6B49BE18465F}"/>
              </a:ext>
            </a:extLst>
          </p:cNvPr>
          <p:cNvSpPr>
            <a:spLocks noGrp="1"/>
          </p:cNvSpPr>
          <p:nvPr>
            <p:ph type="ftr" sz="quarter" idx="11"/>
          </p:nvPr>
        </p:nvSpPr>
        <p:spPr/>
        <p:txBody>
          <a:bodyPr/>
          <a:lstStyle/>
          <a:p>
            <a:r>
              <a:rPr lang="en-US" sz="1800" b="1" dirty="0"/>
              <a:t>Frankfurt University Of Applied Sciences</a:t>
            </a:r>
          </a:p>
        </p:txBody>
      </p:sp>
    </p:spTree>
    <p:extLst>
      <p:ext uri="{BB962C8B-B14F-4D97-AF65-F5344CB8AC3E}">
        <p14:creationId xmlns:p14="http://schemas.microsoft.com/office/powerpoint/2010/main" val="2916031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0025D6B2-6B4C-D0CF-F4A2-DFE484B4CADD}"/>
              </a:ext>
            </a:extLst>
          </p:cNvPr>
          <p:cNvSpPr txBox="1"/>
          <p:nvPr/>
        </p:nvSpPr>
        <p:spPr>
          <a:xfrm>
            <a:off x="3494005" y="86780"/>
            <a:ext cx="5203990" cy="418989"/>
          </a:xfrm>
          <a:prstGeom prst="rect">
            <a:avLst/>
          </a:prstGeom>
        </p:spPr>
        <p:txBody>
          <a:bodyPr vert="horz" lIns="91440" tIns="45720" rIns="91440" bIns="45720" rtlCol="0" anchor="b">
            <a:normAutofit fontScale="92500"/>
          </a:bodyPr>
          <a:lstStyle/>
          <a:p>
            <a:pPr>
              <a:lnSpc>
                <a:spcPct val="90000"/>
              </a:lnSpc>
              <a:spcBef>
                <a:spcPct val="0"/>
              </a:spcBef>
              <a:spcAft>
                <a:spcPts val="600"/>
              </a:spcAft>
            </a:pPr>
            <a:r>
              <a:rPr lang="en-US" sz="2400" b="1" dirty="0">
                <a:latin typeface="+mj-lt"/>
                <a:ea typeface="+mj-ea"/>
                <a:cs typeface="+mj-cs"/>
              </a:rPr>
              <a:t>SDR’s generated by HTM Classifiers-</a:t>
            </a:r>
          </a:p>
        </p:txBody>
      </p:sp>
      <p:sp>
        <p:nvSpPr>
          <p:cNvPr id="16" name="TextBox 15">
            <a:extLst>
              <a:ext uri="{FF2B5EF4-FFF2-40B4-BE49-F238E27FC236}">
                <a16:creationId xmlns:a16="http://schemas.microsoft.com/office/drawing/2014/main" id="{342229C3-E7AB-9818-34DC-D55253399495}"/>
              </a:ext>
            </a:extLst>
          </p:cNvPr>
          <p:cNvSpPr txBox="1"/>
          <p:nvPr/>
        </p:nvSpPr>
        <p:spPr>
          <a:xfrm>
            <a:off x="3017182" y="3694710"/>
            <a:ext cx="5203989" cy="464184"/>
          </a:xfrm>
          <a:prstGeom prst="rect">
            <a:avLst/>
          </a:prstGeom>
        </p:spPr>
        <p:txBody>
          <a:bodyPr vert="horz" lIns="91440" tIns="45720" rIns="91440" bIns="45720" rtlCol="0" anchor="t">
            <a:normAutofit fontScale="92500"/>
          </a:bodyPr>
          <a:lstStyle/>
          <a:p>
            <a:pPr>
              <a:lnSpc>
                <a:spcPct val="90000"/>
              </a:lnSpc>
              <a:spcBef>
                <a:spcPts val="1000"/>
              </a:spcBef>
            </a:pPr>
            <a:r>
              <a:rPr lang="en-US" sz="2400" b="1" dirty="0"/>
              <a:t>SDR’s generated by KNN Classifiers-</a:t>
            </a:r>
          </a:p>
        </p:txBody>
      </p:sp>
      <p:pic>
        <p:nvPicPr>
          <p:cNvPr id="3" name="Picture 2">
            <a:extLst>
              <a:ext uri="{FF2B5EF4-FFF2-40B4-BE49-F238E27FC236}">
                <a16:creationId xmlns:a16="http://schemas.microsoft.com/office/drawing/2014/main" id="{20856E24-D902-15AC-6CC0-63062BECE689}"/>
              </a:ext>
            </a:extLst>
          </p:cNvPr>
          <p:cNvPicPr>
            <a:picLocks noChangeAspect="1"/>
          </p:cNvPicPr>
          <p:nvPr/>
        </p:nvPicPr>
        <p:blipFill>
          <a:blip r:embed="rId2"/>
          <a:srcRect b="46975"/>
          <a:stretch/>
        </p:blipFill>
        <p:spPr>
          <a:xfrm>
            <a:off x="266713" y="1053237"/>
            <a:ext cx="11627448" cy="2325203"/>
          </a:xfrm>
          <a:prstGeom prst="rect">
            <a:avLst/>
          </a:prstGeom>
        </p:spPr>
      </p:pic>
      <p:pic>
        <p:nvPicPr>
          <p:cNvPr id="5" name="Picture 4">
            <a:extLst>
              <a:ext uri="{FF2B5EF4-FFF2-40B4-BE49-F238E27FC236}">
                <a16:creationId xmlns:a16="http://schemas.microsoft.com/office/drawing/2014/main" id="{56DDE946-DF59-37BB-44AD-D6CC52FD814A}"/>
              </a:ext>
            </a:extLst>
          </p:cNvPr>
          <p:cNvPicPr>
            <a:picLocks noChangeAspect="1"/>
          </p:cNvPicPr>
          <p:nvPr/>
        </p:nvPicPr>
        <p:blipFill>
          <a:blip r:embed="rId3"/>
          <a:stretch>
            <a:fillRect/>
          </a:stretch>
        </p:blipFill>
        <p:spPr>
          <a:xfrm>
            <a:off x="266714" y="4475164"/>
            <a:ext cx="11627448" cy="1653943"/>
          </a:xfrm>
          <a:prstGeom prst="rect">
            <a:avLst/>
          </a:prstGeom>
        </p:spPr>
      </p:pic>
      <p:sp>
        <p:nvSpPr>
          <p:cNvPr id="6" name="Footer Placeholder 5">
            <a:extLst>
              <a:ext uri="{FF2B5EF4-FFF2-40B4-BE49-F238E27FC236}">
                <a16:creationId xmlns:a16="http://schemas.microsoft.com/office/drawing/2014/main" id="{E01B86B7-F8B5-C983-08B3-216FE3252216}"/>
              </a:ext>
            </a:extLst>
          </p:cNvPr>
          <p:cNvSpPr>
            <a:spLocks noGrp="1"/>
          </p:cNvSpPr>
          <p:nvPr>
            <p:ph type="ftr" sz="quarter" idx="11"/>
          </p:nvPr>
        </p:nvSpPr>
        <p:spPr/>
        <p:txBody>
          <a:bodyPr/>
          <a:lstStyle/>
          <a:p>
            <a:r>
              <a:rPr lang="en-US" sz="1400" b="1" dirty="0"/>
              <a:t>Frankfurt University Of Applied Sciences</a:t>
            </a:r>
          </a:p>
        </p:txBody>
      </p:sp>
    </p:spTree>
    <p:extLst>
      <p:ext uri="{BB962C8B-B14F-4D97-AF65-F5344CB8AC3E}">
        <p14:creationId xmlns:p14="http://schemas.microsoft.com/office/powerpoint/2010/main" val="222153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1033A0-A02D-417E-0753-5F0DA25EF15D}"/>
              </a:ext>
            </a:extLst>
          </p:cNvPr>
          <p:cNvSpPr txBox="1"/>
          <p:nvPr/>
        </p:nvSpPr>
        <p:spPr>
          <a:xfrm>
            <a:off x="363794" y="334297"/>
            <a:ext cx="2177199" cy="400110"/>
          </a:xfrm>
          <a:prstGeom prst="rect">
            <a:avLst/>
          </a:prstGeom>
          <a:noFill/>
        </p:spPr>
        <p:txBody>
          <a:bodyPr wrap="none" rtlCol="0">
            <a:spAutoFit/>
          </a:bodyPr>
          <a:lstStyle/>
          <a:p>
            <a:r>
              <a:rPr lang="en-IN" sz="2000" b="1" dirty="0"/>
              <a:t>Cosine Similarity</a:t>
            </a:r>
          </a:p>
        </p:txBody>
      </p:sp>
      <p:sp>
        <p:nvSpPr>
          <p:cNvPr id="25" name="TextBox 24">
            <a:extLst>
              <a:ext uri="{FF2B5EF4-FFF2-40B4-BE49-F238E27FC236}">
                <a16:creationId xmlns:a16="http://schemas.microsoft.com/office/drawing/2014/main" id="{016E2CD6-84F1-D4F5-10C0-3BAE978C658C}"/>
              </a:ext>
            </a:extLst>
          </p:cNvPr>
          <p:cNvSpPr txBox="1"/>
          <p:nvPr/>
        </p:nvSpPr>
        <p:spPr>
          <a:xfrm>
            <a:off x="521109" y="834498"/>
            <a:ext cx="11670891" cy="923330"/>
          </a:xfrm>
          <a:prstGeom prst="rect">
            <a:avLst/>
          </a:prstGeom>
          <a:noFill/>
        </p:spPr>
        <p:txBody>
          <a:bodyPr wrap="square">
            <a:spAutoFit/>
          </a:bodyPr>
          <a:lstStyle/>
          <a:p>
            <a:r>
              <a:rPr lang="en-US" b="1" dirty="0">
                <a:solidFill>
                  <a:schemeClr val="bg1"/>
                </a:solidFill>
              </a:rPr>
              <a:t>Cosine Similarity is a method used to quantify how similar two vectors are by computing the cosine of the angle between them. It is widely applied in machine learning, text analysis, and image processing to compare feature representations.</a:t>
            </a:r>
          </a:p>
        </p:txBody>
      </p:sp>
      <p:pic>
        <p:nvPicPr>
          <p:cNvPr id="27" name="Picture 26">
            <a:extLst>
              <a:ext uri="{FF2B5EF4-FFF2-40B4-BE49-F238E27FC236}">
                <a16:creationId xmlns:a16="http://schemas.microsoft.com/office/drawing/2014/main" id="{B5F9804E-ECF0-C0D8-3F95-C030067DF745}"/>
              </a:ext>
            </a:extLst>
          </p:cNvPr>
          <p:cNvPicPr>
            <a:picLocks noChangeAspect="1"/>
          </p:cNvPicPr>
          <p:nvPr/>
        </p:nvPicPr>
        <p:blipFill>
          <a:blip r:embed="rId3"/>
          <a:stretch>
            <a:fillRect/>
          </a:stretch>
        </p:blipFill>
        <p:spPr>
          <a:xfrm>
            <a:off x="1231511" y="2068712"/>
            <a:ext cx="7483488" cy="2720576"/>
          </a:xfrm>
          <a:prstGeom prst="rect">
            <a:avLst/>
          </a:prstGeom>
        </p:spPr>
      </p:pic>
      <p:sp>
        <p:nvSpPr>
          <p:cNvPr id="32" name="TextBox 31">
            <a:extLst>
              <a:ext uri="{FF2B5EF4-FFF2-40B4-BE49-F238E27FC236}">
                <a16:creationId xmlns:a16="http://schemas.microsoft.com/office/drawing/2014/main" id="{473DDCDD-7E38-D191-BF43-45BAECA4C998}"/>
              </a:ext>
            </a:extLst>
          </p:cNvPr>
          <p:cNvSpPr txBox="1"/>
          <p:nvPr/>
        </p:nvSpPr>
        <p:spPr>
          <a:xfrm>
            <a:off x="609599" y="5100173"/>
            <a:ext cx="10766323" cy="1477328"/>
          </a:xfrm>
          <a:prstGeom prst="rect">
            <a:avLst/>
          </a:prstGeom>
          <a:noFill/>
        </p:spPr>
        <p:txBody>
          <a:bodyPr wrap="square">
            <a:spAutoFit/>
          </a:bodyPr>
          <a:lstStyle/>
          <a:p>
            <a:pPr>
              <a:buNone/>
            </a:pPr>
            <a:r>
              <a:rPr lang="en-US" b="1" dirty="0">
                <a:solidFill>
                  <a:schemeClr val="bg1"/>
                </a:solidFill>
              </a:rPr>
              <a:t>Applications:</a:t>
            </a:r>
          </a:p>
          <a:p>
            <a:pPr>
              <a:buNone/>
            </a:pPr>
            <a:endParaRPr lang="en-US" b="1" dirty="0">
              <a:solidFill>
                <a:schemeClr val="bg1"/>
              </a:solidFill>
            </a:endParaRPr>
          </a:p>
          <a:p>
            <a:pPr>
              <a:buFont typeface="Arial" panose="020B0604020202020204" pitchFamily="34" charset="0"/>
              <a:buChar char="•"/>
            </a:pPr>
            <a:r>
              <a:rPr lang="en-US" b="1" dirty="0">
                <a:solidFill>
                  <a:schemeClr val="bg1"/>
                </a:solidFill>
              </a:rPr>
              <a:t>Text Similarity:</a:t>
            </a:r>
            <a:r>
              <a:rPr lang="en-US" dirty="0">
                <a:solidFill>
                  <a:schemeClr val="bg1"/>
                </a:solidFill>
              </a:rPr>
              <a:t> Used in NLP for document comparison (e.g., TF-IDF feature vectors).</a:t>
            </a:r>
          </a:p>
          <a:p>
            <a:pPr>
              <a:buFont typeface="Arial" panose="020B0604020202020204" pitchFamily="34" charset="0"/>
              <a:buChar char="•"/>
            </a:pPr>
            <a:r>
              <a:rPr lang="en-US" b="1" dirty="0">
                <a:solidFill>
                  <a:schemeClr val="bg1"/>
                </a:solidFill>
              </a:rPr>
              <a:t>Image Processing:</a:t>
            </a:r>
            <a:r>
              <a:rPr lang="en-US" dirty="0">
                <a:solidFill>
                  <a:schemeClr val="bg1"/>
                </a:solidFill>
              </a:rPr>
              <a:t> Helps compare feature vectors extracted from images.</a:t>
            </a:r>
          </a:p>
          <a:p>
            <a:pPr>
              <a:buFont typeface="Arial" panose="020B0604020202020204" pitchFamily="34" charset="0"/>
              <a:buChar char="•"/>
            </a:pPr>
            <a:r>
              <a:rPr lang="en-US" b="1" dirty="0">
                <a:solidFill>
                  <a:schemeClr val="bg1"/>
                </a:solidFill>
              </a:rPr>
              <a:t>Recommendation Systems:</a:t>
            </a:r>
            <a:r>
              <a:rPr lang="en-US" dirty="0">
                <a:solidFill>
                  <a:schemeClr val="bg1"/>
                </a:solidFill>
              </a:rPr>
              <a:t> Identifies similar users or items based on preferences.</a:t>
            </a:r>
          </a:p>
        </p:txBody>
      </p:sp>
    </p:spTree>
    <p:extLst>
      <p:ext uri="{BB962C8B-B14F-4D97-AF65-F5344CB8AC3E}">
        <p14:creationId xmlns:p14="http://schemas.microsoft.com/office/powerpoint/2010/main" val="1337750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26" name="Straight Connector 25">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16" name="Rectangle 15">
            <a:extLst>
              <a:ext uri="{FF2B5EF4-FFF2-40B4-BE49-F238E27FC236}">
                <a16:creationId xmlns:a16="http://schemas.microsoft.com/office/drawing/2014/main" id="{929448D9-8F1D-4CFE-93BA-E0272F0DBD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ADE4D120-9A76-3033-AB16-64286989B1EC}"/>
              </a:ext>
            </a:extLst>
          </p:cNvPr>
          <p:cNvSpPr/>
          <p:nvPr/>
        </p:nvSpPr>
        <p:spPr>
          <a:xfrm>
            <a:off x="684212" y="4487332"/>
            <a:ext cx="7543800" cy="1507067"/>
          </a:xfrm>
          <a:prstGeom prst="rect">
            <a:avLst/>
          </a:prstGeom>
        </p:spPr>
        <p:txBody>
          <a:bodyPr vert="horz" lIns="91440" tIns="45720" rIns="91440" bIns="45720" rtlCol="0" anchor="ctr">
            <a:normAutofit/>
          </a:bodyPr>
          <a:lstStyle/>
          <a:p>
            <a:pPr>
              <a:spcBef>
                <a:spcPct val="0"/>
              </a:spcBef>
              <a:spcAft>
                <a:spcPts val="600"/>
              </a:spcAft>
            </a:pPr>
            <a:r>
              <a:rPr lang="en-US" sz="3600" b="0" cap="all" spc="0" dirty="0" err="1">
                <a:ln w="3175" cmpd="sng">
                  <a:noFill/>
                </a:ln>
                <a:latin typeface="+mj-lt"/>
                <a:ea typeface="+mj-ea"/>
                <a:cs typeface="+mj-cs"/>
              </a:rPr>
              <a:t>Permanance</a:t>
            </a:r>
            <a:r>
              <a:rPr lang="en-US" sz="3600" b="0" cap="all" spc="0" dirty="0">
                <a:ln w="3175" cmpd="sng">
                  <a:noFill/>
                </a:ln>
                <a:latin typeface="+mj-lt"/>
                <a:ea typeface="+mj-ea"/>
                <a:cs typeface="+mj-cs"/>
              </a:rPr>
              <a:t> Values</a:t>
            </a:r>
          </a:p>
        </p:txBody>
      </p:sp>
      <p:sp>
        <p:nvSpPr>
          <p:cNvPr id="3" name="TextBox 2">
            <a:extLst>
              <a:ext uri="{FF2B5EF4-FFF2-40B4-BE49-F238E27FC236}">
                <a16:creationId xmlns:a16="http://schemas.microsoft.com/office/drawing/2014/main" id="{63A5010A-6ABC-33FD-646D-042539653496}"/>
              </a:ext>
            </a:extLst>
          </p:cNvPr>
          <p:cNvSpPr txBox="1"/>
          <p:nvPr/>
        </p:nvSpPr>
        <p:spPr>
          <a:xfrm>
            <a:off x="684211" y="685800"/>
            <a:ext cx="7493137" cy="4267200"/>
          </a:xfrm>
          <a:prstGeom prst="rect">
            <a:avLst/>
          </a:prstGeom>
        </p:spPr>
        <p:txBody>
          <a:bodyPr vert="horz" lIns="91440" tIns="45720" rIns="91440" bIns="45720" rtlCol="0" anchor="ctr">
            <a:normAutofit fontScale="25000" lnSpcReduction="20000"/>
          </a:bodyPr>
          <a:lstStyle/>
          <a:p>
            <a:pPr>
              <a:lnSpc>
                <a:spcPct val="90000"/>
              </a:lnSpc>
              <a:spcBef>
                <a:spcPct val="20000"/>
              </a:spcBef>
              <a:spcAft>
                <a:spcPts val="600"/>
              </a:spcAft>
              <a:buClr>
                <a:schemeClr val="tx1"/>
              </a:buClr>
              <a:buSzPct val="80000"/>
              <a:buFont typeface="Wingdings 3" panose="05040102010807070707" pitchFamily="18" charset="2"/>
              <a:buChar char=""/>
            </a:pPr>
            <a:r>
              <a:rPr lang="en-US" sz="5600" b="1" dirty="0"/>
              <a:t>Permanence values</a:t>
            </a:r>
            <a:r>
              <a:rPr lang="en-US" sz="5600" dirty="0"/>
              <a:t> are the connections between cells or neurons in a network, representing the strength of a synapse. These values are crucial in determining how well a synapse can activate a neuron and are key to the learning process within HTM. Permanence values are usually set between 0 and 1 (e.g., 0.2 to 0.8), where values close to 1 indicate strong, stable synaptic connections, and values closer to 0 indicate weak or non-existent connections.</a:t>
            </a:r>
          </a:p>
          <a:p>
            <a:pPr>
              <a:lnSpc>
                <a:spcPct val="90000"/>
              </a:lnSpc>
              <a:spcBef>
                <a:spcPct val="20000"/>
              </a:spcBef>
              <a:spcAft>
                <a:spcPts val="600"/>
              </a:spcAft>
              <a:buClr>
                <a:schemeClr val="tx1"/>
              </a:buClr>
              <a:buSzPct val="80000"/>
              <a:buFont typeface="Wingdings 3" panose="05040102010807070707" pitchFamily="18" charset="2"/>
              <a:buChar char=""/>
            </a:pPr>
            <a:endParaRPr lang="en-US" sz="5600" dirty="0"/>
          </a:p>
          <a:p>
            <a:pPr>
              <a:lnSpc>
                <a:spcPct val="90000"/>
              </a:lnSpc>
              <a:spcBef>
                <a:spcPct val="20000"/>
              </a:spcBef>
              <a:spcAft>
                <a:spcPts val="600"/>
              </a:spcAft>
              <a:buClr>
                <a:schemeClr val="tx1"/>
              </a:buClr>
              <a:buSzPct val="80000"/>
              <a:buFont typeface="Wingdings 3" panose="05040102010807070707" pitchFamily="18" charset="2"/>
              <a:buChar char=""/>
            </a:pPr>
            <a:r>
              <a:rPr lang="en-US" sz="5600" dirty="0"/>
              <a:t>If a synapse isn't used or becomes irrelevant, its permanence value is decreased, eventually pruning the synapse. This allows HTM to adapt to changes in input patterns.</a:t>
            </a:r>
          </a:p>
          <a:p>
            <a:pPr>
              <a:lnSpc>
                <a:spcPct val="90000"/>
              </a:lnSpc>
              <a:spcBef>
                <a:spcPct val="20000"/>
              </a:spcBef>
              <a:spcAft>
                <a:spcPts val="600"/>
              </a:spcAft>
              <a:buClr>
                <a:schemeClr val="tx1"/>
              </a:buClr>
              <a:buSzPct val="80000"/>
              <a:buFont typeface="Wingdings 3" panose="05040102010807070707" pitchFamily="18" charset="2"/>
              <a:buChar char=""/>
            </a:pPr>
            <a:endParaRPr lang="en-US" sz="5600" dirty="0"/>
          </a:p>
          <a:p>
            <a:pPr>
              <a:lnSpc>
                <a:spcPct val="90000"/>
              </a:lnSpc>
              <a:spcBef>
                <a:spcPct val="20000"/>
              </a:spcBef>
              <a:spcAft>
                <a:spcPts val="600"/>
              </a:spcAft>
              <a:buClr>
                <a:schemeClr val="tx1"/>
              </a:buClr>
              <a:buSzPct val="80000"/>
              <a:buFont typeface="Wingdings 3" panose="05040102010807070707" pitchFamily="18" charset="2"/>
              <a:buChar char=""/>
            </a:pPr>
            <a:r>
              <a:rPr lang="en-US" sz="5600" dirty="0"/>
              <a:t>The processed binarized images are fed into the spatial pooler, where each image input (in the form of SDRs) will activate specific columns in the pool. The permanence values here will control how strong or weak the synapses are between cells and how much influence each input has on the column.</a:t>
            </a:r>
          </a:p>
          <a:p>
            <a:pPr>
              <a:lnSpc>
                <a:spcPct val="90000"/>
              </a:lnSpc>
              <a:spcBef>
                <a:spcPct val="20000"/>
              </a:spcBef>
              <a:spcAft>
                <a:spcPts val="600"/>
              </a:spcAft>
              <a:buClr>
                <a:schemeClr val="tx1"/>
              </a:buClr>
              <a:buSzPct val="80000"/>
              <a:buFont typeface="Wingdings 3" panose="05040102010807070707" pitchFamily="18" charset="2"/>
              <a:buChar char=""/>
            </a:pPr>
            <a:r>
              <a:rPr lang="en-US" sz="5600" dirty="0"/>
              <a:t>Learn Image Structure: For multiple images, the permanence values will adjust so that cells representing common features in the images (e.g., edges, shapes) have stronger synapses. This enables the system to recognize those features more easily.</a:t>
            </a:r>
          </a:p>
          <a:p>
            <a:pPr>
              <a:lnSpc>
                <a:spcPct val="90000"/>
              </a:lnSpc>
              <a:spcBef>
                <a:spcPct val="20000"/>
              </a:spcBef>
              <a:spcAft>
                <a:spcPts val="600"/>
              </a:spcAft>
              <a:buClr>
                <a:schemeClr val="tx1"/>
              </a:buClr>
              <a:buSzPct val="80000"/>
              <a:buFont typeface="Wingdings 3" panose="05040102010807070707" pitchFamily="18" charset="2"/>
              <a:buChar char=""/>
            </a:pPr>
            <a:endParaRPr lang="en-US" sz="1100" dirty="0">
              <a:solidFill>
                <a:schemeClr val="bg2">
                  <a:lumMod val="75000"/>
                </a:schemeClr>
              </a:solidFill>
            </a:endParaRPr>
          </a:p>
          <a:p>
            <a:pPr>
              <a:lnSpc>
                <a:spcPct val="90000"/>
              </a:lnSpc>
              <a:spcBef>
                <a:spcPct val="20000"/>
              </a:spcBef>
              <a:spcAft>
                <a:spcPts val="600"/>
              </a:spcAft>
              <a:buClr>
                <a:schemeClr val="tx1"/>
              </a:buClr>
              <a:buSzPct val="80000"/>
              <a:buFont typeface="Wingdings 3" panose="05040102010807070707" pitchFamily="18" charset="2"/>
              <a:buChar char=""/>
            </a:pPr>
            <a:endParaRPr lang="en-US" sz="1100" dirty="0">
              <a:solidFill>
                <a:schemeClr val="bg2">
                  <a:lumMod val="75000"/>
                </a:schemeClr>
              </a:solidFill>
            </a:endParaRPr>
          </a:p>
        </p:txBody>
      </p:sp>
      <p:pic>
        <p:nvPicPr>
          <p:cNvPr id="5" name="Picture 4" descr="Neuron system in 3D rendering">
            <a:extLst>
              <a:ext uri="{FF2B5EF4-FFF2-40B4-BE49-F238E27FC236}">
                <a16:creationId xmlns:a16="http://schemas.microsoft.com/office/drawing/2014/main" id="{CBF3E2F0-0FE4-77DD-FE7B-58BD34B89EA5}"/>
              </a:ext>
            </a:extLst>
          </p:cNvPr>
          <p:cNvPicPr>
            <a:picLocks noChangeAspect="1"/>
          </p:cNvPicPr>
          <p:nvPr/>
        </p:nvPicPr>
        <p:blipFill>
          <a:blip r:embed="rId2"/>
          <a:srcRect l="41372" r="25322" b="-1"/>
          <a:stretch/>
        </p:blipFill>
        <p:spPr>
          <a:xfrm>
            <a:off x="8820603" y="10"/>
            <a:ext cx="3371397" cy="6857990"/>
          </a:xfrm>
          <a:prstGeom prst="rect">
            <a:avLst/>
          </a:prstGeom>
          <a:effectLst>
            <a:innerShdw blurRad="57150" dist="38100" dir="14460000">
              <a:prstClr val="black">
                <a:alpha val="70000"/>
              </a:prstClr>
            </a:innerShdw>
          </a:effectLst>
        </p:spPr>
      </p:pic>
      <p:grpSp>
        <p:nvGrpSpPr>
          <p:cNvPr id="18" name="Group 17">
            <a:extLst>
              <a:ext uri="{FF2B5EF4-FFF2-40B4-BE49-F238E27FC236}">
                <a16:creationId xmlns:a16="http://schemas.microsoft.com/office/drawing/2014/main" id="{94749DEA-AC6C-4834-A330-03A1796B89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27" name="Straight Connector 26">
              <a:extLst>
                <a:ext uri="{FF2B5EF4-FFF2-40B4-BE49-F238E27FC236}">
                  <a16:creationId xmlns:a16="http://schemas.microsoft.com/office/drawing/2014/main" id="{20CBC5D1-BAF0-454E-9D7C-68370AA9545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ABB9F45-32F7-4915-A94F-F1E34B32DED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4EA6F09-00FD-4C50-A2DF-D0B1CC4C9AB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B8B975B-2618-4734-A401-FAB7451901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EF4B123-0577-4F10-986B-6BD86396ABB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 name="Footer Placeholder 3">
            <a:extLst>
              <a:ext uri="{FF2B5EF4-FFF2-40B4-BE49-F238E27FC236}">
                <a16:creationId xmlns:a16="http://schemas.microsoft.com/office/drawing/2014/main" id="{13FC46C7-9D41-4FF5-3704-179D65717E96}"/>
              </a:ext>
            </a:extLst>
          </p:cNvPr>
          <p:cNvSpPr>
            <a:spLocks noGrp="1"/>
          </p:cNvSpPr>
          <p:nvPr>
            <p:ph type="ftr" sz="quarter" idx="11"/>
          </p:nvPr>
        </p:nvSpPr>
        <p:spPr/>
        <p:txBody>
          <a:bodyPr/>
          <a:lstStyle/>
          <a:p>
            <a:r>
              <a:rPr lang="en-US" sz="2000" b="1" dirty="0"/>
              <a:t>Frankfurt University Of Applied Sciences</a:t>
            </a:r>
          </a:p>
        </p:txBody>
      </p:sp>
    </p:spTree>
    <p:extLst>
      <p:ext uri="{BB962C8B-B14F-4D97-AF65-F5344CB8AC3E}">
        <p14:creationId xmlns:p14="http://schemas.microsoft.com/office/powerpoint/2010/main" val="468591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275EC-7996-B3FC-E0B9-25D67D965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AF772-08B9-3F82-3C02-24CC19DE0959}"/>
              </a:ext>
            </a:extLst>
          </p:cNvPr>
          <p:cNvSpPr>
            <a:spLocks noGrp="1"/>
          </p:cNvSpPr>
          <p:nvPr>
            <p:ph type="title"/>
          </p:nvPr>
        </p:nvSpPr>
        <p:spPr>
          <a:xfrm>
            <a:off x="1255060" y="5279510"/>
            <a:ext cx="9681882" cy="1044287"/>
          </a:xfrm>
        </p:spPr>
        <p:txBody>
          <a:bodyPr vert="horz" lIns="91440" tIns="45720" rIns="91440" bIns="45720" rtlCol="0" anchor="b">
            <a:normAutofit fontScale="90000"/>
          </a:bodyPr>
          <a:lstStyle/>
          <a:p>
            <a:pPr algn="ctr"/>
            <a:r>
              <a:rPr lang="en-US" sz="3600" kern="1200" dirty="0">
                <a:solidFill>
                  <a:schemeClr val="tx1">
                    <a:lumMod val="85000"/>
                    <a:lumOff val="15000"/>
                  </a:schemeClr>
                </a:solidFill>
                <a:latin typeface="+mj-lt"/>
                <a:ea typeface="+mj-ea"/>
                <a:cs typeface="+mj-cs"/>
              </a:rPr>
              <a:t>Image Reconstruction using Classifiers.</a:t>
            </a:r>
          </a:p>
        </p:txBody>
      </p:sp>
      <p:pic>
        <p:nvPicPr>
          <p:cNvPr id="14" name="Content Placeholder 13" descr="A close up of a metal grid&#10;&#10;AI-generated content may be incorrect.">
            <a:extLst>
              <a:ext uri="{FF2B5EF4-FFF2-40B4-BE49-F238E27FC236}">
                <a16:creationId xmlns:a16="http://schemas.microsoft.com/office/drawing/2014/main" id="{E8F2DE0F-7C06-6CAF-48EB-675D70A9017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46" r="14461"/>
          <a:stretch/>
        </p:blipFill>
        <p:spPr>
          <a:xfrm>
            <a:off x="6604326" y="3571099"/>
            <a:ext cx="5334170" cy="2151275"/>
          </a:xfrm>
        </p:spPr>
      </p:pic>
      <p:cxnSp>
        <p:nvCxnSpPr>
          <p:cNvPr id="8" name="Straight Arrow Connector 7">
            <a:extLst>
              <a:ext uri="{FF2B5EF4-FFF2-40B4-BE49-F238E27FC236}">
                <a16:creationId xmlns:a16="http://schemas.microsoft.com/office/drawing/2014/main" id="{0CA863C9-80FE-CECE-3952-1F82BB2C9B49}"/>
              </a:ext>
            </a:extLst>
          </p:cNvPr>
          <p:cNvCxnSpPr>
            <a:cxnSpLocks/>
          </p:cNvCxnSpPr>
          <p:nvPr/>
        </p:nvCxnSpPr>
        <p:spPr>
          <a:xfrm>
            <a:off x="1474067" y="2768512"/>
            <a:ext cx="18650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A4A8414-B5BE-C017-A7F2-2B76954772F6}"/>
              </a:ext>
            </a:extLst>
          </p:cNvPr>
          <p:cNvSpPr txBox="1"/>
          <p:nvPr/>
        </p:nvSpPr>
        <p:spPr>
          <a:xfrm>
            <a:off x="1448218" y="2496835"/>
            <a:ext cx="1970161" cy="276999"/>
          </a:xfrm>
          <a:prstGeom prst="rect">
            <a:avLst/>
          </a:prstGeom>
          <a:noFill/>
        </p:spPr>
        <p:txBody>
          <a:bodyPr wrap="square" rtlCol="0">
            <a:spAutoFit/>
          </a:bodyPr>
          <a:lstStyle/>
          <a:p>
            <a:r>
              <a:rPr lang="en-IN" sz="1200" dirty="0"/>
              <a:t>Image Binarization Process</a:t>
            </a:r>
          </a:p>
        </p:txBody>
      </p:sp>
      <p:sp>
        <p:nvSpPr>
          <p:cNvPr id="12" name="TextBox 11">
            <a:extLst>
              <a:ext uri="{FF2B5EF4-FFF2-40B4-BE49-F238E27FC236}">
                <a16:creationId xmlns:a16="http://schemas.microsoft.com/office/drawing/2014/main" id="{6002D10F-548F-8E67-8AED-A0ED83A1E8B6}"/>
              </a:ext>
            </a:extLst>
          </p:cNvPr>
          <p:cNvSpPr txBox="1"/>
          <p:nvPr/>
        </p:nvSpPr>
        <p:spPr>
          <a:xfrm>
            <a:off x="4772874" y="925722"/>
            <a:ext cx="1908816" cy="461665"/>
          </a:xfrm>
          <a:prstGeom prst="rect">
            <a:avLst/>
          </a:prstGeom>
          <a:noFill/>
        </p:spPr>
        <p:txBody>
          <a:bodyPr wrap="square" rtlCol="0">
            <a:spAutoFit/>
          </a:bodyPr>
          <a:lstStyle/>
          <a:p>
            <a:r>
              <a:rPr lang="en-IN" sz="1200" dirty="0"/>
              <a:t>Reconstruction of Image using KNN</a:t>
            </a:r>
          </a:p>
        </p:txBody>
      </p:sp>
      <p:pic>
        <p:nvPicPr>
          <p:cNvPr id="17" name="Content Placeholder 6" descr="A close up of a window&#10;&#10;AI-generated content may be incorrect.">
            <a:extLst>
              <a:ext uri="{FF2B5EF4-FFF2-40B4-BE49-F238E27FC236}">
                <a16:creationId xmlns:a16="http://schemas.microsoft.com/office/drawing/2014/main" id="{C7290DB4-9E32-BB8B-9BC3-3E8A41C2902A}"/>
              </a:ext>
            </a:extLst>
          </p:cNvPr>
          <p:cNvPicPr>
            <a:picLocks noChangeAspect="1"/>
          </p:cNvPicPr>
          <p:nvPr/>
        </p:nvPicPr>
        <p:blipFill>
          <a:blip r:embed="rId3">
            <a:extLst>
              <a:ext uri="{28A0092B-C50C-407E-A947-70E740481C1C}">
                <a14:useLocalDpi xmlns:a14="http://schemas.microsoft.com/office/drawing/2010/main" val="0"/>
              </a:ext>
            </a:extLst>
          </a:blip>
          <a:srcRect t="545" r="16283"/>
          <a:stretch/>
        </p:blipFill>
        <p:spPr>
          <a:xfrm>
            <a:off x="6604326" y="109639"/>
            <a:ext cx="5334170" cy="2235136"/>
          </a:xfrm>
          <a:prstGeom prst="rect">
            <a:avLst/>
          </a:prstGeom>
        </p:spPr>
      </p:pic>
      <p:pic>
        <p:nvPicPr>
          <p:cNvPr id="18" name="Picture 17">
            <a:extLst>
              <a:ext uri="{FF2B5EF4-FFF2-40B4-BE49-F238E27FC236}">
                <a16:creationId xmlns:a16="http://schemas.microsoft.com/office/drawing/2014/main" id="{D162527D-B896-FF13-2BA7-9AC63D655E02}"/>
              </a:ext>
            </a:extLst>
          </p:cNvPr>
          <p:cNvPicPr>
            <a:picLocks noChangeAspect="1"/>
          </p:cNvPicPr>
          <p:nvPr/>
        </p:nvPicPr>
        <p:blipFill>
          <a:blip r:embed="rId4"/>
          <a:stretch>
            <a:fillRect/>
          </a:stretch>
        </p:blipFill>
        <p:spPr>
          <a:xfrm>
            <a:off x="326712" y="1369393"/>
            <a:ext cx="1147355" cy="2201706"/>
          </a:xfrm>
          <a:prstGeom prst="rect">
            <a:avLst/>
          </a:prstGeom>
        </p:spPr>
      </p:pic>
      <p:pic>
        <p:nvPicPr>
          <p:cNvPr id="19" name="Picture 18" descr="A close-up of a computer screen&#10;&#10;AI-generated content may be incorrect.">
            <a:extLst>
              <a:ext uri="{FF2B5EF4-FFF2-40B4-BE49-F238E27FC236}">
                <a16:creationId xmlns:a16="http://schemas.microsoft.com/office/drawing/2014/main" id="{F4827FE2-5F6B-843F-4017-032729505B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44228" y="1506120"/>
            <a:ext cx="1406009" cy="2064979"/>
          </a:xfrm>
          <a:prstGeom prst="rect">
            <a:avLst/>
          </a:prstGeom>
        </p:spPr>
      </p:pic>
      <p:cxnSp>
        <p:nvCxnSpPr>
          <p:cNvPr id="5" name="Connector: Elbow 4">
            <a:extLst>
              <a:ext uri="{FF2B5EF4-FFF2-40B4-BE49-F238E27FC236}">
                <a16:creationId xmlns:a16="http://schemas.microsoft.com/office/drawing/2014/main" id="{F60B6881-0879-F3F5-0DB9-465955BB355C}"/>
              </a:ext>
            </a:extLst>
          </p:cNvPr>
          <p:cNvCxnSpPr>
            <a:cxnSpLocks/>
          </p:cNvCxnSpPr>
          <p:nvPr/>
        </p:nvCxnSpPr>
        <p:spPr>
          <a:xfrm flipV="1">
            <a:off x="4850236" y="1413223"/>
            <a:ext cx="1613937" cy="111810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nector: Elbow 15">
            <a:extLst>
              <a:ext uri="{FF2B5EF4-FFF2-40B4-BE49-F238E27FC236}">
                <a16:creationId xmlns:a16="http://schemas.microsoft.com/office/drawing/2014/main" id="{FAFFB7BE-5A83-49AE-EF68-C2884FD39223}"/>
              </a:ext>
            </a:extLst>
          </p:cNvPr>
          <p:cNvCxnSpPr>
            <a:cxnSpLocks/>
            <a:stCxn id="19" idx="3"/>
          </p:cNvCxnSpPr>
          <p:nvPr/>
        </p:nvCxnSpPr>
        <p:spPr>
          <a:xfrm>
            <a:off x="4850237" y="2538610"/>
            <a:ext cx="1613937" cy="159882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AA782886-76D7-1B45-37BC-D67937A14E72}"/>
              </a:ext>
            </a:extLst>
          </p:cNvPr>
          <p:cNvSpPr txBox="1"/>
          <p:nvPr/>
        </p:nvSpPr>
        <p:spPr>
          <a:xfrm>
            <a:off x="4316908" y="4174319"/>
            <a:ext cx="2243838" cy="461665"/>
          </a:xfrm>
          <a:prstGeom prst="rect">
            <a:avLst/>
          </a:prstGeom>
          <a:noFill/>
        </p:spPr>
        <p:txBody>
          <a:bodyPr wrap="square">
            <a:spAutoFit/>
          </a:bodyPr>
          <a:lstStyle/>
          <a:p>
            <a:r>
              <a:rPr lang="en-IN" sz="1200" dirty="0"/>
              <a:t>Reconstruction of Image using HTM</a:t>
            </a:r>
          </a:p>
        </p:txBody>
      </p:sp>
      <p:sp>
        <p:nvSpPr>
          <p:cNvPr id="3" name="Footer Placeholder 2">
            <a:extLst>
              <a:ext uri="{FF2B5EF4-FFF2-40B4-BE49-F238E27FC236}">
                <a16:creationId xmlns:a16="http://schemas.microsoft.com/office/drawing/2014/main" id="{8908E1DA-31BA-B8E4-4D18-3BF2A9E49A8B}"/>
              </a:ext>
            </a:extLst>
          </p:cNvPr>
          <p:cNvSpPr>
            <a:spLocks noGrp="1"/>
          </p:cNvSpPr>
          <p:nvPr>
            <p:ph type="ftr" sz="quarter" idx="11"/>
          </p:nvPr>
        </p:nvSpPr>
        <p:spPr/>
        <p:txBody>
          <a:bodyPr/>
          <a:lstStyle/>
          <a:p>
            <a:r>
              <a:rPr lang="en-US"/>
              <a:t>Frankfurt University Of Applied Sciences</a:t>
            </a:r>
          </a:p>
        </p:txBody>
      </p:sp>
    </p:spTree>
    <p:extLst>
      <p:ext uri="{BB962C8B-B14F-4D97-AF65-F5344CB8AC3E}">
        <p14:creationId xmlns:p14="http://schemas.microsoft.com/office/powerpoint/2010/main" val="1518654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B975A-ADE6-676C-689C-2106D4AF59C3}"/>
            </a:ext>
          </a:extLst>
        </p:cNvPr>
        <p:cNvGrpSpPr/>
        <p:nvPr/>
      </p:nvGrpSpPr>
      <p:grpSpPr>
        <a:xfrm>
          <a:off x="0" y="0"/>
          <a:ext cx="0" cy="0"/>
          <a:chOff x="0" y="0"/>
          <a:chExt cx="0" cy="0"/>
        </a:xfrm>
      </p:grpSpPr>
      <p:pic>
        <p:nvPicPr>
          <p:cNvPr id="6" name="Content Placeholder 5" descr="A graph of a graph showing the same size of a cycle&#10;&#10;AI-generated content may be incorrect.">
            <a:extLst>
              <a:ext uri="{FF2B5EF4-FFF2-40B4-BE49-F238E27FC236}">
                <a16:creationId xmlns:a16="http://schemas.microsoft.com/office/drawing/2014/main" id="{F6F2C0E8-44ED-01BE-963F-2489D1EB25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3647" y="1637431"/>
            <a:ext cx="4730214" cy="3757529"/>
          </a:xfrm>
          <a:prstGeom prst="rect">
            <a:avLst/>
          </a:prstGeom>
        </p:spPr>
      </p:pic>
      <p:sp>
        <p:nvSpPr>
          <p:cNvPr id="2" name="Title 1">
            <a:extLst>
              <a:ext uri="{FF2B5EF4-FFF2-40B4-BE49-F238E27FC236}">
                <a16:creationId xmlns:a16="http://schemas.microsoft.com/office/drawing/2014/main" id="{2A0B9882-B14B-FD3D-8BAA-E92451ADE410}"/>
              </a:ext>
            </a:extLst>
          </p:cNvPr>
          <p:cNvSpPr>
            <a:spLocks noGrp="1"/>
          </p:cNvSpPr>
          <p:nvPr>
            <p:ph type="title"/>
          </p:nvPr>
        </p:nvSpPr>
        <p:spPr>
          <a:xfrm>
            <a:off x="786384" y="841249"/>
            <a:ext cx="5692953" cy="2587131"/>
          </a:xfrm>
        </p:spPr>
        <p:txBody>
          <a:bodyPr vert="horz" lIns="91440" tIns="45720" rIns="91440" bIns="45720" rtlCol="0" anchor="b">
            <a:normAutofit/>
          </a:bodyPr>
          <a:lstStyle/>
          <a:p>
            <a:pPr>
              <a:buNone/>
            </a:pPr>
            <a:r>
              <a:rPr lang="en-US" dirty="0"/>
              <a:t>Similarity Analysis of KNN vs. HTM Classifiers</a:t>
            </a:r>
          </a:p>
        </p:txBody>
      </p:sp>
      <p:sp>
        <p:nvSpPr>
          <p:cNvPr id="46" name="Content Placeholder 45">
            <a:extLst>
              <a:ext uri="{FF2B5EF4-FFF2-40B4-BE49-F238E27FC236}">
                <a16:creationId xmlns:a16="http://schemas.microsoft.com/office/drawing/2014/main" id="{E34B6810-19AB-7444-7D9C-27A09CD16F17}"/>
              </a:ext>
            </a:extLst>
          </p:cNvPr>
          <p:cNvSpPr>
            <a:spLocks noGrp="1"/>
          </p:cNvSpPr>
          <p:nvPr>
            <p:ph idx="1"/>
          </p:nvPr>
        </p:nvSpPr>
        <p:spPr>
          <a:xfrm>
            <a:off x="786383" y="3566810"/>
            <a:ext cx="5692953" cy="2651110"/>
          </a:xfrm>
        </p:spPr>
        <p:txBody>
          <a:bodyPr anchor="ctr">
            <a:normAutofit/>
          </a:bodyPr>
          <a:lstStyle/>
          <a:p>
            <a:pPr>
              <a:buFont typeface="Arial" panose="020B0604020202020204" pitchFamily="34" charset="0"/>
              <a:buChar char="•"/>
            </a:pPr>
            <a:r>
              <a:rPr lang="en-US" sz="1800" b="1" dirty="0"/>
              <a:t>HTM outperforms KNN in similarity percentage</a:t>
            </a:r>
            <a:endParaRPr lang="en-US" sz="1800" dirty="0"/>
          </a:p>
          <a:p>
            <a:pPr marL="742950" lvl="1" indent="-285750">
              <a:buFont typeface="Arial" panose="020B0604020202020204" pitchFamily="34" charset="0"/>
              <a:buChar char="•"/>
            </a:pPr>
            <a:r>
              <a:rPr lang="en-US" sz="1600" b="1" dirty="0"/>
              <a:t>HTM Similarity:</a:t>
            </a:r>
            <a:r>
              <a:rPr lang="en-US" sz="1600" dirty="0"/>
              <a:t> 83.51% (on average)</a:t>
            </a:r>
          </a:p>
          <a:p>
            <a:pPr marL="742950" lvl="1" indent="-285750">
              <a:buFont typeface="Arial" panose="020B0604020202020204" pitchFamily="34" charset="0"/>
              <a:buChar char="•"/>
            </a:pPr>
            <a:r>
              <a:rPr lang="en-US" sz="1600" b="1" dirty="0"/>
              <a:t>KNN Similarity:</a:t>
            </a:r>
            <a:r>
              <a:rPr lang="en-US" sz="1600" dirty="0"/>
              <a:t> 80.12% (on average)</a:t>
            </a:r>
          </a:p>
          <a:p>
            <a:endParaRPr lang="en-US" sz="1800" dirty="0">
              <a:solidFill>
                <a:schemeClr val="tx2"/>
              </a:solidFill>
            </a:endParaRPr>
          </a:p>
        </p:txBody>
      </p:sp>
      <p:sp>
        <p:nvSpPr>
          <p:cNvPr id="3" name="Footer Placeholder 2">
            <a:extLst>
              <a:ext uri="{FF2B5EF4-FFF2-40B4-BE49-F238E27FC236}">
                <a16:creationId xmlns:a16="http://schemas.microsoft.com/office/drawing/2014/main" id="{250DEB09-9AC2-A17B-22A0-A848F03721E4}"/>
              </a:ext>
            </a:extLst>
          </p:cNvPr>
          <p:cNvSpPr>
            <a:spLocks noGrp="1"/>
          </p:cNvSpPr>
          <p:nvPr>
            <p:ph type="ftr" sz="quarter" idx="11"/>
          </p:nvPr>
        </p:nvSpPr>
        <p:spPr/>
        <p:txBody>
          <a:bodyPr/>
          <a:lstStyle/>
          <a:p>
            <a:r>
              <a:rPr lang="en-US" sz="1800" b="1" dirty="0"/>
              <a:t>Frankfurt University Of Applied Sciences</a:t>
            </a:r>
          </a:p>
        </p:txBody>
      </p:sp>
    </p:spTree>
    <p:extLst>
      <p:ext uri="{BB962C8B-B14F-4D97-AF65-F5344CB8AC3E}">
        <p14:creationId xmlns:p14="http://schemas.microsoft.com/office/powerpoint/2010/main" val="1349283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27D128-3286-0EF7-5898-AD5BD3621F6E}"/>
            </a:ext>
          </a:extLst>
        </p:cNvPr>
        <p:cNvGrpSpPr/>
        <p:nvPr/>
      </p:nvGrpSpPr>
      <p:grpSpPr>
        <a:xfrm>
          <a:off x="0" y="0"/>
          <a:ext cx="0" cy="0"/>
          <a:chOff x="0" y="0"/>
          <a:chExt cx="0" cy="0"/>
        </a:xfrm>
      </p:grpSpPr>
      <p:sp>
        <p:nvSpPr>
          <p:cNvPr id="52" name="Rectangle 51">
            <a:extLst>
              <a:ext uri="{FF2B5EF4-FFF2-40B4-BE49-F238E27FC236}">
                <a16:creationId xmlns:a16="http://schemas.microsoft.com/office/drawing/2014/main" id="{44C5530E-85F5-4469-A5C9-54B113C112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22B633-9FD8-B213-4DA6-0F12D85FDC41}"/>
              </a:ext>
            </a:extLst>
          </p:cNvPr>
          <p:cNvSpPr>
            <a:spLocks noGrp="1"/>
          </p:cNvSpPr>
          <p:nvPr>
            <p:ph type="title"/>
          </p:nvPr>
        </p:nvSpPr>
        <p:spPr>
          <a:xfrm>
            <a:off x="7535885" y="2402138"/>
            <a:ext cx="4656115" cy="1251231"/>
          </a:xfrm>
        </p:spPr>
        <p:txBody>
          <a:bodyPr vert="horz" lIns="91440" tIns="45720" rIns="91440" bIns="45720" rtlCol="0" anchor="b">
            <a:normAutofit/>
          </a:bodyPr>
          <a:lstStyle/>
          <a:p>
            <a:pPr>
              <a:buNone/>
            </a:pPr>
            <a:r>
              <a:rPr lang="en-US" dirty="0">
                <a:solidFill>
                  <a:srgbClr val="FFFFFF"/>
                </a:solidFill>
              </a:rPr>
              <a:t>KNN vs. HTM Classifiers</a:t>
            </a:r>
          </a:p>
        </p:txBody>
      </p:sp>
      <p:sp useBgFill="1">
        <p:nvSpPr>
          <p:cNvPr id="54" name="Snip Diagonal Corner Rectangle 21">
            <a:extLst>
              <a:ext uri="{FF2B5EF4-FFF2-40B4-BE49-F238E27FC236}">
                <a16:creationId xmlns:a16="http://schemas.microsoft.com/office/drawing/2014/main" id="{A9CEB52D-0D40-45E3-94F9-CDB2083A93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4000" y="620722"/>
            <a:ext cx="6575496" cy="5286838"/>
          </a:xfrm>
          <a:prstGeom prst="snip2DiagRect">
            <a:avLst>
              <a:gd name="adj1" fmla="val 8741"/>
              <a:gd name="adj2" fmla="val 0"/>
            </a:avLst>
          </a:prstGeom>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0F7EB202-DE79-4E39-BCF0-D9855DA1738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57" name="Straight Connector 56">
              <a:extLst>
                <a:ext uri="{FF2B5EF4-FFF2-40B4-BE49-F238E27FC236}">
                  <a16:creationId xmlns:a16="http://schemas.microsoft.com/office/drawing/2014/main" id="{4DF8FC51-F3B0-4D84-A367-A14707163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5B3C3EDB-3DD5-4F8C-84C2-B598DB12A2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C9DD3267-7A88-4810-94C1-0176A11D9C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9F7E30E-9755-4BB4-B799-15752AE2756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2A0A74F5-C569-4A54-9AA8-8F85E9E7E03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graphicFrame>
        <p:nvGraphicFramePr>
          <p:cNvPr id="48" name="Content Placeholder 45">
            <a:extLst>
              <a:ext uri="{FF2B5EF4-FFF2-40B4-BE49-F238E27FC236}">
                <a16:creationId xmlns:a16="http://schemas.microsoft.com/office/drawing/2014/main" id="{3EBAFCAB-FEF4-7F8E-9492-EED8E7F85166}"/>
              </a:ext>
            </a:extLst>
          </p:cNvPr>
          <p:cNvGraphicFramePr>
            <a:graphicFrameLocks noGrp="1"/>
          </p:cNvGraphicFramePr>
          <p:nvPr>
            <p:ph idx="1"/>
            <p:extLst>
              <p:ext uri="{D42A27DB-BD31-4B8C-83A1-F6EECF244321}">
                <p14:modId xmlns:p14="http://schemas.microsoft.com/office/powerpoint/2010/main" val="2474731271"/>
              </p:ext>
            </p:extLst>
          </p:nvPr>
        </p:nvGraphicFramePr>
        <p:xfrm>
          <a:off x="1098550" y="1096963"/>
          <a:ext cx="5643563" cy="4333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a:extLst>
              <a:ext uri="{FF2B5EF4-FFF2-40B4-BE49-F238E27FC236}">
                <a16:creationId xmlns:a16="http://schemas.microsoft.com/office/drawing/2014/main" id="{AF6276C2-7412-8027-E638-8D111D111EB5}"/>
              </a:ext>
            </a:extLst>
          </p:cNvPr>
          <p:cNvSpPr>
            <a:spLocks noGrp="1"/>
          </p:cNvSpPr>
          <p:nvPr>
            <p:ph type="ftr" sz="quarter" idx="11"/>
          </p:nvPr>
        </p:nvSpPr>
        <p:spPr/>
        <p:txBody>
          <a:bodyPr/>
          <a:lstStyle/>
          <a:p>
            <a:r>
              <a:rPr lang="en-US"/>
              <a:t>Frankfurt University Of Applied Sciences</a:t>
            </a:r>
          </a:p>
        </p:txBody>
      </p:sp>
    </p:spTree>
    <p:extLst>
      <p:ext uri="{BB962C8B-B14F-4D97-AF65-F5344CB8AC3E}">
        <p14:creationId xmlns:p14="http://schemas.microsoft.com/office/powerpoint/2010/main" val="3289454793"/>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C09E0-DF47-60C3-25EC-763F321BE5B9}"/>
              </a:ext>
            </a:extLst>
          </p:cNvPr>
          <p:cNvSpPr txBox="1"/>
          <p:nvPr/>
        </p:nvSpPr>
        <p:spPr>
          <a:xfrm>
            <a:off x="678425" y="2113935"/>
            <a:ext cx="4378699" cy="769441"/>
          </a:xfrm>
          <a:prstGeom prst="rect">
            <a:avLst/>
          </a:prstGeom>
          <a:noFill/>
        </p:spPr>
        <p:txBody>
          <a:bodyPr wrap="none" rtlCol="0">
            <a:spAutoFit/>
          </a:bodyPr>
          <a:lstStyle/>
          <a:p>
            <a:r>
              <a:rPr lang="en-IN" sz="4400"/>
              <a:t>Real Life examples</a:t>
            </a:r>
            <a:endParaRPr lang="en-IN" sz="4400" dirty="0"/>
          </a:p>
        </p:txBody>
      </p:sp>
      <p:sp>
        <p:nvSpPr>
          <p:cNvPr id="4" name="TextBox 3">
            <a:extLst>
              <a:ext uri="{FF2B5EF4-FFF2-40B4-BE49-F238E27FC236}">
                <a16:creationId xmlns:a16="http://schemas.microsoft.com/office/drawing/2014/main" id="{5669522D-B644-3EFD-8F28-27AC11202AB1}"/>
              </a:ext>
            </a:extLst>
          </p:cNvPr>
          <p:cNvSpPr txBox="1"/>
          <p:nvPr/>
        </p:nvSpPr>
        <p:spPr>
          <a:xfrm>
            <a:off x="963560" y="3105834"/>
            <a:ext cx="10913807" cy="3693319"/>
          </a:xfrm>
          <a:prstGeom prst="rect">
            <a:avLst/>
          </a:prstGeom>
          <a:noFill/>
        </p:spPr>
        <p:txBody>
          <a:bodyPr wrap="square">
            <a:spAutoFit/>
          </a:bodyPr>
          <a:lstStyle/>
          <a:p>
            <a:r>
              <a:rPr lang="en-US" dirty="0">
                <a:solidFill>
                  <a:schemeClr val="bg1"/>
                </a:solidFill>
              </a:rPr>
              <a:t>Image reconstruction plays a crucial role in several practical applications. Below are some of them, </a:t>
            </a:r>
          </a:p>
          <a:p>
            <a:endParaRPr lang="en-US" b="1" dirty="0">
              <a:solidFill>
                <a:schemeClr val="bg1"/>
              </a:solidFill>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IN" b="1" dirty="0">
                <a:solidFill>
                  <a:schemeClr val="bg1"/>
                </a:solidFill>
              </a:rPr>
              <a:t>Satellite Image Processing</a:t>
            </a:r>
            <a:r>
              <a:rPr lang="en-US" b="1" dirty="0">
                <a:solidFill>
                  <a:schemeClr val="bg1"/>
                </a:solidFill>
              </a:rPr>
              <a:t>: </a:t>
            </a:r>
            <a:r>
              <a:rPr lang="en-US" altLang="en-US" dirty="0">
                <a:solidFill>
                  <a:schemeClr val="bg1"/>
                </a:solidFill>
              </a:rPr>
              <a:t>Reconstructing missing or corrupted parts of satellite images due to cloud cover or transmission errors. </a:t>
            </a: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bg1"/>
                </a:solidFill>
              </a:rPr>
              <a:t>       Example: Used in weather forecasting, agriculture, and disaster response. </a:t>
            </a: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chemeClr val="bg1"/>
              </a:solidFill>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chemeClr val="bg1"/>
              </a:solidFill>
            </a:endParaRPr>
          </a:p>
          <a:p>
            <a:pPr marL="285750" indent="-285750">
              <a:buFont typeface="Arial" panose="020B0604020202020204" pitchFamily="34" charset="0"/>
              <a:buChar char="•"/>
            </a:pPr>
            <a:r>
              <a:rPr lang="en-IN" b="1" dirty="0">
                <a:solidFill>
                  <a:schemeClr val="bg1"/>
                </a:solidFill>
              </a:rPr>
              <a:t>Super-Resolution &amp; Denoising (Photography &amp; Video) : </a:t>
            </a:r>
            <a:r>
              <a:rPr lang="en-IN" dirty="0">
                <a:solidFill>
                  <a:schemeClr val="bg1"/>
                </a:solidFill>
              </a:rPr>
              <a:t>Enhancing low-resolution images using AI models.</a:t>
            </a:r>
          </a:p>
          <a:p>
            <a:r>
              <a:rPr lang="en-IN" dirty="0">
                <a:solidFill>
                  <a:schemeClr val="bg1"/>
                </a:solidFill>
              </a:rPr>
              <a:t>        Example: Removing noise from security footage to identify objects better.</a:t>
            </a:r>
          </a:p>
          <a:p>
            <a:pPr marL="0" marR="0" lvl="0" indent="0" algn="l" defTabSz="914400" rtl="0" eaLnBrk="0" fontAlgn="base" latinLnBrk="0" hangingPunct="0">
              <a:lnSpc>
                <a:spcPct val="100000"/>
              </a:lnSpc>
              <a:spcBef>
                <a:spcPct val="0"/>
              </a:spcBef>
              <a:spcAft>
                <a:spcPct val="0"/>
              </a:spcAft>
              <a:buClrTx/>
              <a:buSzTx/>
              <a:tabLst/>
            </a:pPr>
            <a:endParaRPr lang="en-US" altLang="en-US" dirty="0"/>
          </a:p>
          <a:p>
            <a:endParaRPr lang="en-IN" dirty="0"/>
          </a:p>
        </p:txBody>
      </p:sp>
      <p:sp>
        <p:nvSpPr>
          <p:cNvPr id="8" name="TextBox 7">
            <a:extLst>
              <a:ext uri="{FF2B5EF4-FFF2-40B4-BE49-F238E27FC236}">
                <a16:creationId xmlns:a16="http://schemas.microsoft.com/office/drawing/2014/main" id="{2EDE826D-3886-A719-C154-F76B5EB2A0A7}"/>
              </a:ext>
            </a:extLst>
          </p:cNvPr>
          <p:cNvSpPr txBox="1"/>
          <p:nvPr/>
        </p:nvSpPr>
        <p:spPr>
          <a:xfrm>
            <a:off x="678424" y="422786"/>
            <a:ext cx="11267769" cy="1200329"/>
          </a:xfrm>
          <a:prstGeom prst="rect">
            <a:avLst/>
          </a:prstGeom>
          <a:noFill/>
        </p:spPr>
        <p:txBody>
          <a:bodyPr wrap="square" rtlCol="0">
            <a:spAutoFit/>
          </a:bodyPr>
          <a:lstStyle/>
          <a:p>
            <a:r>
              <a:rPr lang="en-US" dirty="0">
                <a:solidFill>
                  <a:schemeClr val="bg1"/>
                </a:solidFill>
              </a:rPr>
              <a:t>The combination of </a:t>
            </a:r>
            <a:r>
              <a:rPr lang="en-US" b="1" dirty="0">
                <a:solidFill>
                  <a:schemeClr val="bg1"/>
                </a:solidFill>
              </a:rPr>
              <a:t>Sparse Distributed Representations (SDRs)</a:t>
            </a:r>
            <a:r>
              <a:rPr lang="en-US" dirty="0">
                <a:solidFill>
                  <a:schemeClr val="bg1"/>
                </a:solidFill>
              </a:rPr>
              <a:t> and the </a:t>
            </a:r>
            <a:r>
              <a:rPr lang="en-US" b="1" dirty="0">
                <a:solidFill>
                  <a:schemeClr val="bg1"/>
                </a:solidFill>
              </a:rPr>
              <a:t>Neocortex (HTM – Hierarchical Temporal Memory)</a:t>
            </a:r>
            <a:r>
              <a:rPr lang="en-US" dirty="0">
                <a:solidFill>
                  <a:schemeClr val="bg1"/>
                </a:solidFill>
              </a:rPr>
              <a:t> allows for a biologically inspired way of recognizing and classifying images. Unlike traditional deep learning models, this method mimics how the human brain processes visual data.</a:t>
            </a:r>
            <a:endParaRPr lang="en-IN" dirty="0">
              <a:solidFill>
                <a:schemeClr val="bg1"/>
              </a:solidFill>
            </a:endParaRPr>
          </a:p>
        </p:txBody>
      </p:sp>
      <p:sp>
        <p:nvSpPr>
          <p:cNvPr id="3" name="Footer Placeholder 2">
            <a:extLst>
              <a:ext uri="{FF2B5EF4-FFF2-40B4-BE49-F238E27FC236}">
                <a16:creationId xmlns:a16="http://schemas.microsoft.com/office/drawing/2014/main" id="{0ADC2234-7A57-FCCA-F8B4-31D551982650}"/>
              </a:ext>
            </a:extLst>
          </p:cNvPr>
          <p:cNvSpPr>
            <a:spLocks noGrp="1"/>
          </p:cNvSpPr>
          <p:nvPr>
            <p:ph type="ftr" sz="quarter" idx="11"/>
          </p:nvPr>
        </p:nvSpPr>
        <p:spPr/>
        <p:txBody>
          <a:bodyPr/>
          <a:lstStyle/>
          <a:p>
            <a:r>
              <a:rPr lang="en-US" sz="1400" b="1" dirty="0"/>
              <a:t>Frankfurt University Of Applied Sciences</a:t>
            </a:r>
          </a:p>
        </p:txBody>
      </p:sp>
    </p:spTree>
    <p:extLst>
      <p:ext uri="{BB962C8B-B14F-4D97-AF65-F5344CB8AC3E}">
        <p14:creationId xmlns:p14="http://schemas.microsoft.com/office/powerpoint/2010/main" val="4218773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997CE-8458-54AD-1A25-27863F6A2F4D}"/>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 you!</a:t>
            </a:r>
          </a:p>
        </p:txBody>
      </p:sp>
      <p:pic>
        <p:nvPicPr>
          <p:cNvPr id="6" name="Graphic 5" descr="Accept">
            <a:extLst>
              <a:ext uri="{FF2B5EF4-FFF2-40B4-BE49-F238E27FC236}">
                <a16:creationId xmlns:a16="http://schemas.microsoft.com/office/drawing/2014/main" id="{12AE7189-C8E7-E0C1-7837-1CE0694ED98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
        <p:nvSpPr>
          <p:cNvPr id="3" name="Footer Placeholder 2">
            <a:extLst>
              <a:ext uri="{FF2B5EF4-FFF2-40B4-BE49-F238E27FC236}">
                <a16:creationId xmlns:a16="http://schemas.microsoft.com/office/drawing/2014/main" id="{F7793AF9-AB55-FCAA-4C1E-413ED20EE021}"/>
              </a:ext>
            </a:extLst>
          </p:cNvPr>
          <p:cNvSpPr>
            <a:spLocks noGrp="1"/>
          </p:cNvSpPr>
          <p:nvPr>
            <p:ph type="ftr" sz="quarter" idx="11"/>
          </p:nvPr>
        </p:nvSpPr>
        <p:spPr/>
        <p:txBody>
          <a:bodyPr/>
          <a:lstStyle/>
          <a:p>
            <a:r>
              <a:rPr lang="en-US" b="1" dirty="0"/>
              <a:t>Frankfurt University Of Applied Sciences</a:t>
            </a:r>
          </a:p>
        </p:txBody>
      </p:sp>
    </p:spTree>
    <p:extLst>
      <p:ext uri="{BB962C8B-B14F-4D97-AF65-F5344CB8AC3E}">
        <p14:creationId xmlns:p14="http://schemas.microsoft.com/office/powerpoint/2010/main" val="290145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2181</TotalTime>
  <Words>971</Words>
  <Application>Microsoft Office PowerPoint</Application>
  <PresentationFormat>Widescreen</PresentationFormat>
  <Paragraphs>111</Paragraphs>
  <Slides>20</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vt:lpstr>
      <vt:lpstr>Calibri</vt:lpstr>
      <vt:lpstr>Calibri Light</vt:lpstr>
      <vt:lpstr>Century Gothic</vt:lpstr>
      <vt:lpstr>Nato</vt:lpstr>
      <vt:lpstr>Wingdings 3</vt:lpstr>
      <vt:lpstr>Slice</vt:lpstr>
      <vt:lpstr>Custom Design</vt:lpstr>
      <vt:lpstr>ML 24/25-01 Investigate Image Reconstruction By using Classifier </vt:lpstr>
      <vt:lpstr>Introduction</vt:lpstr>
      <vt:lpstr>Objective</vt:lpstr>
      <vt:lpstr>PowerPoint Presentation</vt:lpstr>
      <vt:lpstr>Methodology</vt:lpstr>
      <vt:lpstr>PowerPoint Presentation</vt:lpstr>
      <vt:lpstr>PowerPoint Presentation</vt:lpstr>
      <vt:lpstr>PowerPoint Presentation</vt:lpstr>
      <vt:lpstr>KNN Classifier</vt:lpstr>
      <vt:lpstr>HTM Classifier</vt:lpstr>
      <vt:lpstr>Image Reconstruction using Classifiers.</vt:lpstr>
      <vt:lpstr>PowerPoint Presentation</vt:lpstr>
      <vt:lpstr>PowerPoint Presentation</vt:lpstr>
      <vt:lpstr>PowerPoint Presentation</vt:lpstr>
      <vt:lpstr>PowerPoint Presentation</vt:lpstr>
      <vt:lpstr>Image Reconstruction using Classifiers.</vt:lpstr>
      <vt:lpstr>Similarity Analysis of KNN vs. HTM Classifiers</vt:lpstr>
      <vt:lpstr>KNN vs. HTM Classifiers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23/24-05 Implement the visualization of permanence value</dc:title>
  <dc:creator>Bidhan paul</dc:creator>
  <cp:lastModifiedBy>rajan singh</cp:lastModifiedBy>
  <cp:revision>41</cp:revision>
  <dcterms:created xsi:type="dcterms:W3CDTF">2024-04-06T22:52:49Z</dcterms:created>
  <dcterms:modified xsi:type="dcterms:W3CDTF">2025-03-21T17:40:45Z</dcterms:modified>
</cp:coreProperties>
</file>